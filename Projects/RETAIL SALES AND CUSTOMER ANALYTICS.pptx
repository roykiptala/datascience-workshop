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0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3501" autoAdjust="0"/>
  </p:normalViewPr>
  <p:slideViewPr>
    <p:cSldViewPr snapToGrid="0">
      <p:cViewPr>
        <p:scale>
          <a:sx n="60" d="100"/>
          <a:sy n="60" d="100"/>
        </p:scale>
        <p:origin x="9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63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727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45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242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48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92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67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314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57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104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385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7A6E4E-18F6-474E-BD33-86DEF35395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1D9EB5-FA44-4F47-B868-2218BC6C5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37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16014" y="3187337"/>
            <a:ext cx="9251986" cy="322626"/>
          </a:xfrm>
        </p:spPr>
        <p:txBody>
          <a:bodyPr>
            <a:normAutofit fontScale="90000"/>
          </a:bodyPr>
          <a:lstStyle/>
          <a:p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  <a:latin typeface="Agency FB" panose="020B0503020202020204" pitchFamily="34" charset="0"/>
              </a:rPr>
              <a:t>RETAIL SALES AND CUSTOMER ANALYTICS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/>
            </a:r>
            <a:br>
              <a:rPr lang="en-US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b="1" dirty="0" smtClean="0">
                <a:solidFill>
                  <a:schemeClr val="accent1">
                    <a:lumMod val="75000"/>
                  </a:schemeClr>
                </a:solidFill>
              </a:rPr>
              <a:t>Data Import, Understanding, Cleaning and Validation Using Python</a:t>
            </a:r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/>
            </a:r>
            <a:b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</a:b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1149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Project </a:t>
            </a:r>
            <a:r>
              <a:rPr lang="en-US" b="1" dirty="0" smtClean="0">
                <a:solidFill>
                  <a:schemeClr val="accent1">
                    <a:lumMod val="75000"/>
                  </a:schemeClr>
                </a:solidFill>
              </a:rPr>
              <a:t>Description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 smtClean="0"/>
              <a:t/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project focuses on importing, examining, cleaning, validating and preparing a retail sales dataset for business and customer analytics. The work uses Python data-analysis techniques to understand the structure of the dataset, identify data-quality problems, correct invalid or inconsistent values, and prepare a clean dataset for subsequent analysis.</a:t>
            </a:r>
          </a:p>
          <a:p>
            <a:r>
              <a:rPr lang="en-US" dirty="0"/>
              <a:t>The dataset contains 2,000 retail transaction records. The analysis covers customer information, sales transactions, products, branches, pricing, quantities, discounts, costs and profits, together with other retail and customer-related variables visible in the project data.</a:t>
            </a:r>
          </a:p>
          <a:p>
            <a:r>
              <a:rPr lang="en-US" dirty="0"/>
              <a:t>The workflow begins with loading and examining the raw data, followed by missing-value analysis, duplicate validation, demographic validation, text standardization, data-type conversion, validation of unrealistic numerical values, outlier handling, and preparation of the cleaned dataset.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868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Project Structure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Section A: Data Import and Understanding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Section B: Data Cleaning and Validation</a:t>
            </a:r>
          </a:p>
        </p:txBody>
      </p:sp>
    </p:spTree>
    <p:extLst>
      <p:ext uri="{BB962C8B-B14F-4D97-AF65-F5344CB8AC3E}">
        <p14:creationId xmlns:p14="http://schemas.microsoft.com/office/powerpoint/2010/main" val="888959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Section A: Data Import and Understanding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Questions</a:t>
            </a:r>
          </a:p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1-4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905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359" y="104775"/>
            <a:ext cx="10515600" cy="1325563"/>
          </a:xfrm>
        </p:spPr>
        <p:txBody>
          <a:bodyPr>
            <a:normAutofit/>
          </a:bodyPr>
          <a:lstStyle/>
          <a:p>
            <a:r>
              <a:rPr lang="en-US" sz="2200" b="1" dirty="0" smtClean="0">
                <a:solidFill>
                  <a:schemeClr val="accent1">
                    <a:lumMod val="75000"/>
                  </a:schemeClr>
                </a:solidFill>
              </a:rPr>
              <a:t>QUESTION </a:t>
            </a:r>
            <a:r>
              <a:rPr lang="en-US" sz="2200" b="1" dirty="0">
                <a:solidFill>
                  <a:schemeClr val="accent1">
                    <a:lumMod val="75000"/>
                  </a:schemeClr>
                </a:solidFill>
              </a:rPr>
              <a:t>1: Import the retail sales dataset into Python and verify that the dataset has been loaded successfully.</a:t>
            </a:r>
            <a:endParaRPr lang="en-US" sz="2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Code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988815"/>
            <a:ext cx="5157787" cy="2717108"/>
          </a:xfrm>
        </p:spPr>
      </p:pic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Importing </a:t>
            </a:r>
            <a:r>
              <a:rPr lang="en-US" dirty="0" err="1" smtClean="0"/>
              <a:t>LibrariesPandas</a:t>
            </a:r>
            <a:r>
              <a:rPr lang="en-US" dirty="0" smtClean="0"/>
              <a:t> was imported to work with and analyze the dataset. The OS library was also imported to check the current working directory.</a:t>
            </a:r>
          </a:p>
          <a:p>
            <a:r>
              <a:rPr lang="en-US" dirty="0" smtClean="0"/>
              <a:t>Checking the Working </a:t>
            </a:r>
            <a:r>
              <a:rPr lang="en-US" dirty="0" smtClean="0"/>
              <a:t>Directory</a:t>
            </a:r>
          </a:p>
          <a:p>
            <a:pPr lvl="1"/>
            <a:r>
              <a:rPr lang="en-US" dirty="0" err="1" smtClean="0"/>
              <a:t>os.getcwd</a:t>
            </a:r>
            <a:r>
              <a:rPr lang="en-US" dirty="0" smtClean="0"/>
              <a:t>() was used to find the folder where Python is currently working. This helps ensure Python can locate the dataset correctly.</a:t>
            </a:r>
          </a:p>
          <a:p>
            <a:r>
              <a:rPr lang="en-US" dirty="0" smtClean="0"/>
              <a:t>Importing and Verifying the </a:t>
            </a:r>
            <a:r>
              <a:rPr lang="en-US" dirty="0" err="1" smtClean="0"/>
              <a:t>Datasetpd.read_csv</a:t>
            </a:r>
            <a:r>
              <a:rPr lang="en-US" dirty="0" smtClean="0"/>
              <a:t>() was used to load the retail sales CSV file into a </a:t>
            </a:r>
            <a:r>
              <a:rPr lang="en-US" dirty="0" err="1" smtClean="0"/>
              <a:t>DataFrame</a:t>
            </a:r>
            <a:r>
              <a:rPr lang="en-US" dirty="0" smtClean="0"/>
              <a:t> called </a:t>
            </a:r>
            <a:r>
              <a:rPr lang="en-US" dirty="0" err="1" smtClean="0"/>
              <a:t>df</a:t>
            </a:r>
            <a:r>
              <a:rPr lang="en-US" dirty="0" smtClean="0"/>
              <a:t>. The dataset can then be verified using </a:t>
            </a:r>
            <a:r>
              <a:rPr lang="en-US" dirty="0" err="1" smtClean="0"/>
              <a:t>df.head</a:t>
            </a:r>
            <a:r>
              <a:rPr lang="en-US" dirty="0" smtClean="0"/>
              <a:t>() to display the first five rows.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810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2: Examine the structure, dimensions, variables, and data types of the retail sales dataset.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Code;</a:t>
            </a:r>
          </a:p>
          <a:p>
            <a:r>
              <a:rPr lang="en-US" dirty="0" smtClean="0"/>
              <a:t>Structure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645" y="2756084"/>
            <a:ext cx="2869311" cy="12291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1. Rows – 2,000The first number, 2000, represents the total number of records or observations in the dataset.</a:t>
            </a:r>
          </a:p>
          <a:p>
            <a:r>
              <a:rPr lang="en-US" dirty="0" smtClean="0"/>
              <a:t>2. Columns – 34The second number, 34, represents the total number of variables or features in the dataset.</a:t>
            </a:r>
          </a:p>
          <a:p>
            <a:r>
              <a:rPr lang="en-US" dirty="0" smtClean="0"/>
              <a:t>3. Overall </a:t>
            </a:r>
            <a:r>
              <a:rPr lang="en-US" dirty="0" err="1" smtClean="0"/>
              <a:t>StructureTherefore</a:t>
            </a:r>
            <a:r>
              <a:rPr lang="en-US" dirty="0" smtClean="0"/>
              <a:t>, the dataset contains 2,000 rows and 34 columns, giving us an overview of its size and structure.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96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</a:t>
            </a:r>
            <a:r>
              <a:rPr lang="en-US" sz="2400" b="1" dirty="0" smtClean="0">
                <a:solidFill>
                  <a:schemeClr val="accent1">
                    <a:lumMod val="75000"/>
                  </a:schemeClr>
                </a:solidFill>
              </a:rPr>
              <a:t>2(continuation):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Examine the structure, dimensions, variables, and data types of the retail sales dataset.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Code:</a:t>
            </a:r>
          </a:p>
          <a:p>
            <a:r>
              <a:rPr lang="en-US" dirty="0" smtClean="0"/>
              <a:t>Variables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7" y="2591616"/>
            <a:ext cx="5894888" cy="327130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US" dirty="0" smtClean="0"/>
              <a:t>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This displays the 34 variable/column names in the dataset.</a:t>
            </a:r>
          </a:p>
          <a:p>
            <a:r>
              <a:rPr lang="en-US" dirty="0" smtClean="0"/>
              <a:t>Each column represents a different characteristic, such as customer information, sales information, or product information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937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2(continuation): Examine the structure, dimensions, variables, and data types of the retail sales dataset</a:t>
            </a:r>
            <a:r>
              <a:rPr lang="en-US" sz="2400" b="1" dirty="0" smtClean="0">
                <a:solidFill>
                  <a:schemeClr val="accent1">
                    <a:lumMod val="75000"/>
                  </a:schemeClr>
                </a:solidFill>
              </a:rPr>
              <a:t>.</a:t>
            </a:r>
            <a:r>
              <a:rPr lang="en-US" sz="2400" b="1" dirty="0" smtClean="0"/>
              <a:t/>
            </a:r>
            <a:br>
              <a:rPr lang="en-US" sz="2400" b="1" dirty="0" smtClean="0"/>
            </a:br>
            <a:endParaRPr lang="en-US" sz="2400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Code</a:t>
            </a:r>
          </a:p>
          <a:p>
            <a:r>
              <a:rPr lang="en-US" dirty="0" smtClean="0"/>
              <a:t>Data types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82" y="2505075"/>
            <a:ext cx="2543218" cy="1028749"/>
          </a:xfrm>
        </p:spPr>
      </p:pic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6586580" y="1130300"/>
            <a:ext cx="4768807" cy="5727699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Explanation</a:t>
            </a:r>
          </a:p>
          <a:p>
            <a:r>
              <a:rPr lang="en-US" sz="2200" b="0" dirty="0" smtClean="0"/>
              <a:t>. String (</a:t>
            </a:r>
            <a:r>
              <a:rPr lang="en-US" sz="2200" b="0" dirty="0" err="1" smtClean="0"/>
              <a:t>str</a:t>
            </a:r>
            <a:r>
              <a:rPr lang="en-US" sz="2200" b="0" dirty="0" smtClean="0"/>
              <a:t>)Variables such as </a:t>
            </a:r>
            <a:r>
              <a:rPr lang="en-US" sz="2200" b="0" dirty="0" err="1" smtClean="0"/>
              <a:t>Transaction_ID</a:t>
            </a:r>
            <a:r>
              <a:rPr lang="en-US" sz="2200" b="0" dirty="0" smtClean="0"/>
              <a:t>, </a:t>
            </a:r>
            <a:r>
              <a:rPr lang="en-US" sz="2200" b="0" dirty="0" err="1" smtClean="0"/>
              <a:t>Customer_ID</a:t>
            </a:r>
            <a:r>
              <a:rPr lang="en-US" sz="2200" b="0" dirty="0" smtClean="0"/>
              <a:t>, City, </a:t>
            </a:r>
            <a:r>
              <a:rPr lang="en-US" sz="2200" b="0" dirty="0" err="1" smtClean="0"/>
              <a:t>Product_Name</a:t>
            </a:r>
            <a:r>
              <a:rPr lang="en-US" sz="2200" b="0" dirty="0" smtClean="0"/>
              <a:t>, and Category are stored as strings because they contain text or </a:t>
            </a:r>
            <a:r>
              <a:rPr lang="en-US" sz="2200" b="0" dirty="0" err="1" smtClean="0"/>
              <a:t>identifiers.Float</a:t>
            </a:r>
            <a:r>
              <a:rPr lang="en-US" sz="2200" b="0" dirty="0" smtClean="0"/>
              <a:t> (float64)</a:t>
            </a:r>
          </a:p>
          <a:p>
            <a:r>
              <a:rPr lang="en-US" sz="2200" b="0" dirty="0" smtClean="0"/>
              <a:t>.  Variables such as </a:t>
            </a:r>
            <a:r>
              <a:rPr lang="en-US" sz="2200" b="0" dirty="0" err="1" smtClean="0"/>
              <a:t>Customer_Age</a:t>
            </a:r>
            <a:r>
              <a:rPr lang="en-US" sz="2200" b="0" dirty="0" smtClean="0"/>
              <a:t>, </a:t>
            </a:r>
            <a:r>
              <a:rPr lang="en-US" sz="2200" b="0" dirty="0" err="1" smtClean="0"/>
              <a:t>Unit_Price</a:t>
            </a:r>
            <a:r>
              <a:rPr lang="en-US" sz="2200" b="0" dirty="0" smtClean="0"/>
              <a:t>, Quantity, Discount, Tax, </a:t>
            </a:r>
            <a:r>
              <a:rPr lang="en-US" sz="2200" b="0" dirty="0" err="1" smtClean="0"/>
              <a:t>Total_Sales</a:t>
            </a:r>
            <a:r>
              <a:rPr lang="en-US" sz="2200" b="0" dirty="0" smtClean="0"/>
              <a:t>, Cost, and Profit are float64 because they contain numerical values, including </a:t>
            </a:r>
            <a:r>
              <a:rPr lang="en-US" sz="2200" b="0" dirty="0" err="1" smtClean="0"/>
              <a:t>decimals.Integer</a:t>
            </a:r>
            <a:r>
              <a:rPr lang="en-US" sz="2200" b="0" dirty="0" smtClean="0"/>
              <a:t> (int64)</a:t>
            </a:r>
          </a:p>
          <a:p>
            <a:r>
              <a:rPr lang="en-US" sz="2200" b="0" dirty="0" smtClean="0"/>
              <a:t>. The Year variable is stored as int64 because it contains whole-number values without decimal points.</a:t>
            </a:r>
          </a:p>
          <a:p>
            <a:r>
              <a:rPr lang="en-US" sz="2200" b="0" dirty="0" smtClean="0"/>
              <a:t>. Object (object)The output shows </a:t>
            </a:r>
            <a:r>
              <a:rPr lang="en-US" sz="2200" b="0" dirty="0" err="1" smtClean="0"/>
              <a:t>dtype</a:t>
            </a:r>
            <a:r>
              <a:rPr lang="en-US" sz="2200" b="0" dirty="0" smtClean="0"/>
              <a:t>: object because some columns contain text/categorical data, which Pandas represents as object type in this dataset.</a:t>
            </a:r>
            <a:endParaRPr lang="en-US" sz="2200" b="0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350" y="2603500"/>
            <a:ext cx="2943225" cy="3952924"/>
          </a:xfr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05" y="5318125"/>
            <a:ext cx="2497195" cy="12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579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88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3: Explore the dataset to identify the different categories of variables available for analysis.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704057"/>
            <a:ext cx="4883150" cy="823912"/>
          </a:xfrm>
        </p:spPr>
        <p:txBody>
          <a:bodyPr/>
          <a:lstStyle/>
          <a:p>
            <a:r>
              <a:rPr lang="en-US" dirty="0" smtClean="0"/>
              <a:t>Code                                     output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12" y="1527969"/>
            <a:ext cx="3224212" cy="3896610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321550" y="808832"/>
            <a:ext cx="4992688" cy="823912"/>
          </a:xfrm>
        </p:spPr>
        <p:txBody>
          <a:bodyPr/>
          <a:lstStyle/>
          <a:p>
            <a:r>
              <a:rPr lang="en-US" dirty="0"/>
              <a:t>E</a:t>
            </a:r>
            <a:r>
              <a:rPr lang="en-US" dirty="0" smtClean="0"/>
              <a:t>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32650" y="1698625"/>
            <a:ext cx="5081588" cy="4098925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1. Customer </a:t>
            </a:r>
            <a:r>
              <a:rPr lang="en-US" dirty="0" err="1" smtClean="0"/>
              <a:t>GenderCustomer_Gender</a:t>
            </a:r>
            <a:r>
              <a:rPr lang="en-US" dirty="0" smtClean="0"/>
              <a:t> identifies the different gender categories in the dataset. The .unique() function displays each distinct value.</a:t>
            </a:r>
          </a:p>
          <a:p>
            <a:r>
              <a:rPr lang="en-US" dirty="0" smtClean="0"/>
              <a:t>2. Product and Customer </a:t>
            </a:r>
            <a:r>
              <a:rPr lang="en-US" dirty="0" err="1" smtClean="0"/>
              <a:t>CategoriesCategory</a:t>
            </a:r>
            <a:r>
              <a:rPr lang="en-US" dirty="0" smtClean="0"/>
              <a:t> and </a:t>
            </a:r>
            <a:r>
              <a:rPr lang="en-US" dirty="0" err="1" smtClean="0"/>
              <a:t>Customer_Type</a:t>
            </a:r>
            <a:r>
              <a:rPr lang="en-US" dirty="0" smtClean="0"/>
              <a:t> show the different product categories and types of customers available for analysis.</a:t>
            </a:r>
          </a:p>
          <a:p>
            <a:r>
              <a:rPr lang="en-US" dirty="0" smtClean="0"/>
              <a:t>3. Payment, Branch and </a:t>
            </a:r>
            <a:r>
              <a:rPr lang="en-US" dirty="0" err="1" smtClean="0"/>
              <a:t>MembershipPayment_Method</a:t>
            </a:r>
            <a:r>
              <a:rPr lang="en-US" dirty="0" smtClean="0"/>
              <a:t>, Branch, and Membership identify the different payment methods, branches, and membership categories in the dataset.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031" y="1656456"/>
            <a:ext cx="3945088" cy="374351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3450" y="5391197"/>
            <a:ext cx="2400300" cy="14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001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225421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4: Produce descriptive summaries to gain an initial understanding of the dataset.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392113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2" y="1216026"/>
            <a:ext cx="2600459" cy="617533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5850" y="392113"/>
            <a:ext cx="4745038" cy="823912"/>
          </a:xfrm>
        </p:spPr>
        <p:txBody>
          <a:bodyPr/>
          <a:lstStyle/>
          <a:p>
            <a:r>
              <a:rPr lang="en-US" dirty="0"/>
              <a:t>E</a:t>
            </a:r>
            <a:r>
              <a:rPr lang="en-US" dirty="0" smtClean="0"/>
              <a:t>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5850" y="1450962"/>
            <a:ext cx="4756150" cy="49625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smtClean="0"/>
              <a:t>.</a:t>
            </a:r>
            <a:r>
              <a:rPr lang="en-US" dirty="0" err="1" smtClean="0"/>
              <a:t>df.describe</a:t>
            </a:r>
            <a:r>
              <a:rPr lang="en-US" dirty="0" smtClean="0"/>
              <a:t>() provides a statistical summary of the numerical data, including the count, mean, standard deviation, minimum, maximum, and quartile values.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smtClean="0"/>
              <a:t>It helps identify patterns and variations in the dataset, such as the typical customer age and the range of ages represented.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smtClean="0"/>
              <a:t>It gives an initial understanding of the dataset by showing its overall distribution and helping identify unusual or extreme values.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2" y="2012978"/>
            <a:ext cx="5603148" cy="453413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066" y="5908903"/>
            <a:ext cx="3500534" cy="63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379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Section B: Data Cleaning and Validation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Subtitle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Questions</a:t>
            </a:r>
          </a:p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5-13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1355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5: Clean and validate the retail sales dataset by identifying and correcting missing values using appropriate Python techniques.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" y="582217"/>
            <a:ext cx="7689552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5563"/>
            <a:ext cx="2473176" cy="662781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89552" y="1018376"/>
            <a:ext cx="4451360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89552" y="1842287"/>
            <a:ext cx="4451360" cy="5015711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 smtClean="0"/>
              <a:t>df.isnull</a:t>
            </a:r>
            <a:r>
              <a:rPr lang="en-US" dirty="0" smtClean="0"/>
              <a:t>().sum() checks the dataset for missing values and counts how many are present in each column.</a:t>
            </a:r>
          </a:p>
          <a:p>
            <a:r>
              <a:rPr lang="en-US" dirty="0" smtClean="0"/>
              <a:t>It identifies columns that need cleaning, such as Category, Unit Price, Quantity, or Customer Type, where the output shows missing-value counts.</a:t>
            </a:r>
          </a:p>
          <a:p>
            <a:r>
              <a:rPr lang="en-US" dirty="0" smtClean="0"/>
              <a:t>The missing values can then be corrected using appropriate methods such as filling numerical values with the mean/median, filling categorical values with the mode, or removing rows when appropriate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0" y="1988344"/>
            <a:ext cx="3426599" cy="474369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59" y="6027152"/>
            <a:ext cx="2576358" cy="70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39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</a:t>
            </a:r>
            <a:r>
              <a:rPr lang="en-US" sz="2400" b="1" dirty="0" smtClean="0">
                <a:solidFill>
                  <a:schemeClr val="accent1">
                    <a:lumMod val="75000"/>
                  </a:schemeClr>
                </a:solidFill>
              </a:rPr>
              <a:t>5(Continuation):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Clean and validate the retail sales dataset by identifying and correcting missing values using appropriate Python techniques.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411" y="544429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5562"/>
            <a:ext cx="3467278" cy="797809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50920" y="1042914"/>
            <a:ext cx="4441079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32902" y="1885247"/>
            <a:ext cx="5159097" cy="4840808"/>
          </a:xfrm>
        </p:spPr>
        <p:txBody>
          <a:bodyPr>
            <a:normAutofit/>
          </a:bodyPr>
          <a:lstStyle/>
          <a:p>
            <a:r>
              <a:rPr lang="en-US" dirty="0" smtClean="0"/>
              <a:t>1. Identifies missing values in each column of the retail sales dataset using </a:t>
            </a:r>
            <a:r>
              <a:rPr lang="en-US" dirty="0" err="1" smtClean="0"/>
              <a:t>isnull</a:t>
            </a:r>
            <a:r>
              <a:rPr lang="en-US" dirty="0" smtClean="0"/>
              <a:t>().sum().</a:t>
            </a:r>
          </a:p>
          <a:p>
            <a:r>
              <a:rPr lang="en-US" dirty="0" smtClean="0"/>
              <a:t>2. Shows the number of missing values for columns such as </a:t>
            </a:r>
            <a:r>
              <a:rPr lang="en-US" dirty="0" err="1" smtClean="0"/>
              <a:t>Total_Sales</a:t>
            </a:r>
            <a:r>
              <a:rPr lang="en-US" dirty="0" smtClean="0"/>
              <a:t>, Cost, Profit, Month, and Quarter.</a:t>
            </a:r>
          </a:p>
          <a:p>
            <a:r>
              <a:rPr lang="en-US" dirty="0" smtClean="0"/>
              <a:t>3. Helps guide data cleaning by showing which columns need their missing values corrected or filled before analysis.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7" y="2123370"/>
            <a:ext cx="4243903" cy="460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10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6: Identify, validate, and remove duplicate transaction records while preserving valid sales information.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01066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09163"/>
            <a:ext cx="3436671" cy="1170858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77278" y="501651"/>
            <a:ext cx="4492274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61384" y="1424977"/>
            <a:ext cx="4285719" cy="5374721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 smtClean="0"/>
              <a:t>Checks for duplicate records using </a:t>
            </a:r>
            <a:r>
              <a:rPr lang="en-US" dirty="0" err="1" smtClean="0"/>
              <a:t>df.duplicated</a:t>
            </a:r>
            <a:r>
              <a:rPr lang="en-US" dirty="0" smtClean="0"/>
              <a:t>().sum().</a:t>
            </a:r>
          </a:p>
          <a:p>
            <a:pPr marL="0" indent="0">
              <a:buNone/>
            </a:pPr>
            <a:r>
              <a:rPr lang="en-US" dirty="0" smtClean="0"/>
              <a:t>2. Displays the duplicate transactions with </a:t>
            </a:r>
            <a:r>
              <a:rPr lang="en-US" dirty="0" err="1" smtClean="0"/>
              <a:t>df</a:t>
            </a:r>
            <a:r>
              <a:rPr lang="en-US" dirty="0" smtClean="0"/>
              <a:t>[</a:t>
            </a:r>
            <a:r>
              <a:rPr lang="en-US" dirty="0" err="1" smtClean="0"/>
              <a:t>df.duplicated</a:t>
            </a:r>
            <a:r>
              <a:rPr lang="en-US" dirty="0" smtClean="0"/>
              <a:t>()].</a:t>
            </a:r>
          </a:p>
          <a:p>
            <a:pPr marL="0" indent="0">
              <a:buNone/>
            </a:pPr>
            <a:r>
              <a:rPr lang="en-US" dirty="0" smtClean="0"/>
              <a:t>3. Confirms whether duplicates exist so they can be removed while keeping the valid sales records.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94350"/>
            <a:ext cx="7861385" cy="189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17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7: Validate customer demographic information by identifying invalid ages and inconsistent customer categories.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760626"/>
            <a:ext cx="5157787" cy="657001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3" y="1443752"/>
            <a:ext cx="2658849" cy="233374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552139" y="760626"/>
            <a:ext cx="3662874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83023" y="1561205"/>
            <a:ext cx="3831989" cy="5170988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1. Check the age </a:t>
            </a:r>
            <a:r>
              <a:rPr lang="en-US" dirty="0" err="1" smtClean="0"/>
              <a:t>dataUse</a:t>
            </a:r>
            <a:r>
              <a:rPr lang="en-US" dirty="0" smtClean="0"/>
              <a:t> describe() to summarize </a:t>
            </a:r>
            <a:r>
              <a:rPr lang="en-US" dirty="0" err="1" smtClean="0"/>
              <a:t>Customer_Age.It</a:t>
            </a:r>
            <a:r>
              <a:rPr lang="en-US" dirty="0" smtClean="0"/>
              <a:t> shows the minimum and maximum ages.</a:t>
            </a:r>
          </a:p>
          <a:p>
            <a:r>
              <a:rPr lang="en-US" dirty="0" smtClean="0"/>
              <a:t>2. Identify invalid </a:t>
            </a:r>
            <a:r>
              <a:rPr lang="en-US" dirty="0" err="1" smtClean="0"/>
              <a:t>agesAges</a:t>
            </a:r>
            <a:r>
              <a:rPr lang="en-US" dirty="0" smtClean="0"/>
              <a:t> below 0 or above 100 are </a:t>
            </a:r>
            <a:r>
              <a:rPr lang="en-US" dirty="0" err="1" smtClean="0"/>
              <a:t>invalid.The</a:t>
            </a:r>
            <a:r>
              <a:rPr lang="en-US" dirty="0" smtClean="0"/>
              <a:t> data contains values like -5 and 150.</a:t>
            </a:r>
          </a:p>
          <a:p>
            <a:r>
              <a:rPr lang="en-US" dirty="0" smtClean="0"/>
              <a:t>3. Display invalid </a:t>
            </a:r>
            <a:r>
              <a:rPr lang="en-US" dirty="0" err="1" smtClean="0"/>
              <a:t>recordsUse</a:t>
            </a:r>
            <a:r>
              <a:rPr lang="en-US" dirty="0" smtClean="0"/>
              <a:t> a condition to filter these </a:t>
            </a:r>
            <a:r>
              <a:rPr lang="en-US" dirty="0" err="1" smtClean="0"/>
              <a:t>ages.This</a:t>
            </a:r>
            <a:r>
              <a:rPr lang="en-US" dirty="0" smtClean="0"/>
              <a:t> shows the customers with invalid ages.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8652" y="974691"/>
            <a:ext cx="3114835" cy="88587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995" y="1860562"/>
            <a:ext cx="5566933" cy="491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815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</a:t>
            </a:r>
            <a:r>
              <a:rPr lang="en-US" sz="2400" b="1" dirty="0" smtClean="0">
                <a:solidFill>
                  <a:schemeClr val="accent1">
                    <a:lumMod val="75000"/>
                  </a:schemeClr>
                </a:solidFill>
              </a:rPr>
              <a:t>7(Continuation):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Validate customer demographic information by identifying invalid ages and inconsistent customer categories.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42" y="742216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5" y="1510567"/>
            <a:ext cx="3659536" cy="3270087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85224" y="742216"/>
            <a:ext cx="4606776" cy="823912"/>
          </a:xfrm>
        </p:spPr>
        <p:txBody>
          <a:bodyPr/>
          <a:lstStyle/>
          <a:p>
            <a:r>
              <a:rPr lang="en-US" dirty="0"/>
              <a:t>E</a:t>
            </a:r>
            <a:r>
              <a:rPr lang="en-US" dirty="0" smtClean="0"/>
              <a:t>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2730" y="1627495"/>
            <a:ext cx="4529096" cy="5153793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AutoNum type="arabicPeriod"/>
            </a:pPr>
            <a:r>
              <a:rPr lang="en-US" dirty="0" smtClean="0"/>
              <a:t>Filter invalid </a:t>
            </a:r>
            <a:r>
              <a:rPr lang="en-US" dirty="0" err="1" smtClean="0"/>
              <a:t>agesThe</a:t>
            </a:r>
            <a:r>
              <a:rPr lang="en-US" dirty="0" smtClean="0"/>
              <a:t> code checks for ages below 0 or above 100.It displays only the </a:t>
            </a:r>
            <a:r>
              <a:rPr lang="en-US" dirty="0" err="1" smtClean="0"/>
              <a:t>Customer_Age</a:t>
            </a:r>
            <a:r>
              <a:rPr lang="en-US" dirty="0" smtClean="0"/>
              <a:t> column for those records.</a:t>
            </a:r>
          </a:p>
          <a:p>
            <a:pPr marL="514350" indent="-514350">
              <a:buAutoNum type="arabicPeriod"/>
            </a:pPr>
            <a:r>
              <a:rPr lang="en-US" dirty="0" smtClean="0"/>
              <a:t>Count each age </a:t>
            </a:r>
            <a:r>
              <a:rPr lang="en-US" dirty="0" err="1" smtClean="0"/>
              <a:t>valuevalue_counts</a:t>
            </a:r>
            <a:r>
              <a:rPr lang="en-US" dirty="0" smtClean="0"/>
              <a:t>() counts how many times each age </a:t>
            </a:r>
            <a:r>
              <a:rPr lang="en-US" dirty="0" err="1" smtClean="0"/>
              <a:t>appears.dropna</a:t>
            </a:r>
            <a:r>
              <a:rPr lang="en-US" dirty="0" smtClean="0"/>
              <a:t>=False also includes missing (</a:t>
            </a:r>
            <a:r>
              <a:rPr lang="en-US" dirty="0" err="1" smtClean="0"/>
              <a:t>NaN</a:t>
            </a:r>
            <a:r>
              <a:rPr lang="en-US" dirty="0" smtClean="0"/>
              <a:t>) ages.</a:t>
            </a:r>
          </a:p>
          <a:p>
            <a:pPr marL="514350" indent="-514350">
              <a:buAutoNum type="arabicPeriod"/>
            </a:pPr>
            <a:r>
              <a:rPr lang="en-US" dirty="0" smtClean="0"/>
              <a:t> Understand the </a:t>
            </a:r>
            <a:r>
              <a:rPr lang="en-US" dirty="0" err="1" smtClean="0"/>
              <a:t>resultsFor</a:t>
            </a:r>
            <a:r>
              <a:rPr lang="en-US" dirty="0" smtClean="0"/>
              <a:t> example, 45.0 appears 261 times and 25.0 appears 259 </a:t>
            </a:r>
            <a:r>
              <a:rPr lang="en-US" dirty="0" err="1" smtClean="0"/>
              <a:t>times.NaN</a:t>
            </a:r>
            <a:r>
              <a:rPr lang="en-US" dirty="0" smtClean="0"/>
              <a:t> appears 780 times, meaning 780 customers have no age recorded.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65" y="1682650"/>
            <a:ext cx="3940866" cy="82734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4201" y="2671723"/>
            <a:ext cx="3474383" cy="151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572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8: Standardize product categories, branch names, payment methods, and customer membership information.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79451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7" y="1503363"/>
            <a:ext cx="3840160" cy="5118366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93878" y="679451"/>
            <a:ext cx="4328623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61384" y="1522988"/>
            <a:ext cx="4261117" cy="528284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We standardized the selected categorical fields by removing unnecessary leading and trailing spaces. This was applied to Category, Branch, </a:t>
            </a:r>
            <a:r>
              <a:rPr lang="en-US" dirty="0" err="1"/>
              <a:t>Payment_Method</a:t>
            </a:r>
            <a:r>
              <a:rPr lang="en-US" dirty="0"/>
              <a:t> and Membership.</a:t>
            </a:r>
          </a:p>
          <a:p>
            <a:r>
              <a:rPr lang="en-US" dirty="0"/>
              <a:t>We then used value-count checks to inspect the categories after cleaning. Standardizing these fields is important because small formatting differences can cause the same business category to appear as separate categories during analysis.</a:t>
            </a:r>
          </a:p>
          <a:p>
            <a:r>
              <a:rPr lang="en-US" dirty="0"/>
              <a:t>Functions used: </a:t>
            </a:r>
            <a:r>
              <a:rPr lang="en-US" dirty="0" err="1"/>
              <a:t>str.strip</a:t>
            </a:r>
            <a:r>
              <a:rPr lang="en-US" dirty="0"/>
              <a:t>() and </a:t>
            </a:r>
            <a:r>
              <a:rPr lang="en-US" dirty="0" err="1"/>
              <a:t>value_counts</a:t>
            </a:r>
            <a:r>
              <a:rPr lang="en-US" dirty="0"/>
              <a:t>().</a:t>
            </a:r>
          </a:p>
          <a:p>
            <a:r>
              <a:rPr lang="en-US" dirty="0"/>
              <a:t>Columns standardized: Category, Branch, </a:t>
            </a:r>
            <a:r>
              <a:rPr lang="en-US" dirty="0" err="1"/>
              <a:t>Payment_Method</a:t>
            </a:r>
            <a:r>
              <a:rPr lang="en-US" dirty="0"/>
              <a:t> and Membership.</a:t>
            </a:r>
          </a:p>
          <a:p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74" y="1503363"/>
            <a:ext cx="2343270" cy="421026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748" y="5681828"/>
            <a:ext cx="1971776" cy="11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246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9: Detect and correct inconsistent text formatting including unnecessary spaces, mixed letter cases, and spelling inconsistencies.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705388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15" y="1584902"/>
            <a:ext cx="4628767" cy="2048149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73659" y="705388"/>
            <a:ext cx="4218158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73658" y="1529300"/>
            <a:ext cx="4283161" cy="53287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Detecting </a:t>
            </a:r>
            <a:r>
              <a:rPr lang="en-US" dirty="0" err="1" smtClean="0"/>
              <a:t>inconsistenciesunique</a:t>
            </a:r>
            <a:r>
              <a:rPr lang="en-US" dirty="0" smtClean="0"/>
              <a:t>() displays all different values found in </a:t>
            </a:r>
            <a:r>
              <a:rPr lang="en-US" dirty="0" err="1" smtClean="0"/>
              <a:t>Customer_Gender.We</a:t>
            </a:r>
            <a:r>
              <a:rPr lang="en-US" dirty="0" smtClean="0"/>
              <a:t> use it to identify differences in capitalization, spaces, or other formatting.</a:t>
            </a:r>
          </a:p>
          <a:p>
            <a:r>
              <a:rPr lang="en-US" dirty="0" smtClean="0"/>
              <a:t>Removing unnecessary </a:t>
            </a:r>
            <a:r>
              <a:rPr lang="en-US" dirty="0" err="1" smtClean="0"/>
              <a:t>spaces.str.strip</a:t>
            </a:r>
            <a:r>
              <a:rPr lang="en-US" dirty="0" smtClean="0"/>
              <a:t>() removes spaces from the beginning and end of each text </a:t>
            </a:r>
            <a:r>
              <a:rPr lang="en-US" dirty="0" err="1" smtClean="0"/>
              <a:t>value.This</a:t>
            </a:r>
            <a:r>
              <a:rPr lang="en-US" dirty="0" smtClean="0"/>
              <a:t> makes values consistently formatted before further cleaning.</a:t>
            </a:r>
          </a:p>
          <a:p>
            <a:r>
              <a:rPr lang="en-US" dirty="0" smtClean="0"/>
              <a:t>Standardizing letter </a:t>
            </a:r>
            <a:r>
              <a:rPr lang="en-US" dirty="0" err="1" smtClean="0"/>
              <a:t>cases.str.title</a:t>
            </a:r>
            <a:r>
              <a:rPr lang="en-US" dirty="0" smtClean="0"/>
              <a:t>() changes the text to title case, such as male → </a:t>
            </a:r>
            <a:r>
              <a:rPr lang="en-US" dirty="0" err="1" smtClean="0"/>
              <a:t>Male.Combining</a:t>
            </a:r>
            <a:r>
              <a:rPr lang="en-US" dirty="0" smtClean="0"/>
              <a:t> it with .</a:t>
            </a:r>
            <a:r>
              <a:rPr lang="en-US" dirty="0" err="1" smtClean="0"/>
              <a:t>str.strip</a:t>
            </a:r>
            <a:r>
              <a:rPr lang="en-US" dirty="0" smtClean="0"/>
              <a:t>() gives us consistently formatted gender values.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191" y="3688653"/>
            <a:ext cx="5486682" cy="113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600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6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10: Convert variables into appropriate data types suitable for business analysis.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748352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55157"/>
            <a:ext cx="5983490" cy="3614641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01826" y="748352"/>
            <a:ext cx="4490174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32193" y="1604162"/>
            <a:ext cx="5459807" cy="5253837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Converting </a:t>
            </a:r>
            <a:r>
              <a:rPr lang="en-US" dirty="0" err="1" smtClean="0"/>
              <a:t>Sales_Date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pd.to_datetime</a:t>
            </a:r>
            <a:r>
              <a:rPr lang="en-US" dirty="0" smtClean="0"/>
              <a:t>() changes the </a:t>
            </a:r>
            <a:r>
              <a:rPr lang="en-US" dirty="0" err="1" smtClean="0"/>
              <a:t>Sales_Date</a:t>
            </a:r>
            <a:r>
              <a:rPr lang="en-US" dirty="0" smtClean="0"/>
              <a:t> variable into a proper date </a:t>
            </a:r>
            <a:r>
              <a:rPr lang="en-US" dirty="0" err="1" smtClean="0"/>
              <a:t>format.This</a:t>
            </a:r>
            <a:r>
              <a:rPr lang="en-US" dirty="0" smtClean="0"/>
              <a:t> makes it suitable for analyzing sales by day, month, quarter, or year.</a:t>
            </a:r>
          </a:p>
          <a:p>
            <a:r>
              <a:rPr lang="en-US" dirty="0" smtClean="0"/>
              <a:t>Converting </a:t>
            </a:r>
            <a:r>
              <a:rPr lang="en-US" dirty="0" err="1" smtClean="0"/>
              <a:t>Customer_Age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pd.to_numeric</a:t>
            </a:r>
            <a:r>
              <a:rPr lang="en-US" dirty="0" smtClean="0"/>
              <a:t>() changes </a:t>
            </a:r>
            <a:r>
              <a:rPr lang="en-US" dirty="0" err="1" smtClean="0"/>
              <a:t>Customer_Age</a:t>
            </a:r>
            <a:r>
              <a:rPr lang="en-US" dirty="0" smtClean="0"/>
              <a:t> into a numerical data </a:t>
            </a:r>
            <a:r>
              <a:rPr lang="en-US" dirty="0" err="1" smtClean="0"/>
              <a:t>type.This</a:t>
            </a:r>
            <a:r>
              <a:rPr lang="en-US" dirty="0" smtClean="0"/>
              <a:t> allows us to perform calculations such as averages and comparisons.</a:t>
            </a:r>
          </a:p>
          <a:p>
            <a:r>
              <a:rPr lang="en-US" dirty="0" smtClean="0"/>
              <a:t>Handling invalid values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errors</a:t>
            </a:r>
            <a:r>
              <a:rPr lang="en-US" dirty="0" smtClean="0"/>
              <a:t>="coerce" converts values that cannot be converted into the correct type into missing </a:t>
            </a:r>
            <a:r>
              <a:rPr lang="en-US" dirty="0" err="1" smtClean="0"/>
              <a:t>values.This</a:t>
            </a:r>
            <a:r>
              <a:rPr lang="en-US" dirty="0" smtClean="0"/>
              <a:t> prevents invalid data from causing errors during business analysis.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152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68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11: Identify and validate unrealistic numerical values such as negative quantities, incorrect discounts, invalid unit prices, and unrealistic profits.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-14213" y="908263"/>
            <a:ext cx="5115797" cy="576870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85133"/>
            <a:ext cx="3025498" cy="853031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01826" y="741002"/>
            <a:ext cx="4490174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00016" y="1633632"/>
            <a:ext cx="4381810" cy="509242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Negative quantities are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filters transactions where Quantity is below </a:t>
            </a:r>
            <a:r>
              <a:rPr lang="en-US" dirty="0" err="1"/>
              <a:t>zero.These</a:t>
            </a:r>
            <a:r>
              <a:rPr lang="en-US" dirty="0"/>
              <a:t> values may indicate data entry errors</a:t>
            </a:r>
            <a:r>
              <a:rPr lang="en-US" dirty="0" smtClean="0"/>
              <a:t>.</a:t>
            </a:r>
          </a:p>
          <a:p>
            <a:r>
              <a:rPr lang="en-US" dirty="0" smtClean="0"/>
              <a:t>Quantity </a:t>
            </a:r>
            <a:r>
              <a:rPr lang="en-US" dirty="0"/>
              <a:t>values are validated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shows whether any negative quantities </a:t>
            </a:r>
            <a:r>
              <a:rPr lang="en-US" dirty="0" err="1"/>
              <a:t>exist.Valid</a:t>
            </a:r>
            <a:r>
              <a:rPr lang="en-US" dirty="0"/>
              <a:t> sales quantities would normally be zero or positive</a:t>
            </a:r>
            <a:r>
              <a:rPr lang="en-US" dirty="0" smtClean="0"/>
              <a:t>.</a:t>
            </a:r>
          </a:p>
          <a:p>
            <a:r>
              <a:rPr lang="en-US" dirty="0" smtClean="0"/>
              <a:t>Incorrect </a:t>
            </a:r>
            <a:r>
              <a:rPr lang="en-US" dirty="0"/>
              <a:t>records can be handled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Any </a:t>
            </a:r>
            <a:r>
              <a:rPr lang="en-US" dirty="0"/>
              <a:t>identified negative values can be investigated and </a:t>
            </a:r>
            <a:r>
              <a:rPr lang="en-US" dirty="0" err="1"/>
              <a:t>corrected.This</a:t>
            </a:r>
            <a:r>
              <a:rPr lang="en-US" dirty="0"/>
              <a:t> improves the accuracy of the dataset.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13" y="2393396"/>
            <a:ext cx="7716039" cy="440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26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</a:t>
            </a:r>
            <a:r>
              <a:rPr lang="en-US" sz="2400" b="1" dirty="0" smtClean="0">
                <a:solidFill>
                  <a:schemeClr val="accent1">
                    <a:lumMod val="75000"/>
                  </a:schemeClr>
                </a:solidFill>
              </a:rPr>
              <a:t>11(Continuation):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Identify and validate unrealistic numerical values such as negative quantities, incorrect discounts, invalid unit prices, and unrealistic profits</a:t>
            </a:r>
            <a:r>
              <a:rPr lang="en-US" sz="2400" b="1" dirty="0"/>
              <a:t>.</a:t>
            </a:r>
            <a:endParaRPr 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26" y="766763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88" y="1933128"/>
            <a:ext cx="7022620" cy="4872708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14807" y="766763"/>
            <a:ext cx="4136333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85090" y="1606622"/>
            <a:ext cx="4166049" cy="52673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Negative prices are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searches for transactions with a negative </a:t>
            </a:r>
            <a:r>
              <a:rPr lang="en-US" dirty="0" err="1"/>
              <a:t>Unit_Price.Such</a:t>
            </a:r>
            <a:r>
              <a:rPr lang="en-US" dirty="0"/>
              <a:t> values may indicate incorrect data entry</a:t>
            </a:r>
            <a:r>
              <a:rPr lang="en-US" dirty="0" smtClean="0"/>
              <a:t>.</a:t>
            </a:r>
          </a:p>
          <a:p>
            <a:r>
              <a:rPr lang="en-US" dirty="0" smtClean="0"/>
              <a:t>Prices </a:t>
            </a:r>
            <a:r>
              <a:rPr lang="en-US" dirty="0"/>
              <a:t>are validated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shows whether any negative unit prices are </a:t>
            </a:r>
            <a:r>
              <a:rPr lang="en-US" dirty="0" err="1"/>
              <a:t>present.This</a:t>
            </a:r>
            <a:r>
              <a:rPr lang="en-US" dirty="0"/>
              <a:t> helps ensure that product prices are reasonable</a:t>
            </a:r>
            <a:r>
              <a:rPr lang="en-US" dirty="0" smtClean="0"/>
              <a:t>.</a:t>
            </a:r>
          </a:p>
          <a:p>
            <a:r>
              <a:rPr lang="en-US" dirty="0" smtClean="0"/>
              <a:t>Invalid </a:t>
            </a:r>
            <a:r>
              <a:rPr lang="en-US" dirty="0"/>
              <a:t>values can be corrected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Identified </a:t>
            </a:r>
            <a:r>
              <a:rPr lang="en-US" dirty="0"/>
              <a:t>records can be reviewed and corrected or </a:t>
            </a:r>
            <a:r>
              <a:rPr lang="en-US" dirty="0" err="1"/>
              <a:t>removed.This</a:t>
            </a:r>
            <a:r>
              <a:rPr lang="en-US" dirty="0"/>
              <a:t> prevents incorrect prices from affecting analysis.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324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5233"/>
            <a:ext cx="11355388" cy="951221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11(Continuation): Identify and validate unrealistic numerical values such as negative quantities, incorrect discounts, invalid unit prices, and unrealistic profits.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75061"/>
            <a:ext cx="4185374" cy="748704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3" y="1626282"/>
            <a:ext cx="7094537" cy="5161144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28183" y="637457"/>
            <a:ext cx="4563817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28183" y="1588678"/>
            <a:ext cx="4572052" cy="519874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Discount values are filtered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displays records where the discount is below 100.This allows the discount values to be examined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Discounts </a:t>
            </a:r>
            <a:r>
              <a:rPr lang="en-US" dirty="0"/>
              <a:t>are validated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help check whether discount values fall within the expected </a:t>
            </a:r>
            <a:r>
              <a:rPr lang="en-US" dirty="0" err="1"/>
              <a:t>range.This</a:t>
            </a:r>
            <a:r>
              <a:rPr lang="en-US" dirty="0"/>
              <a:t> can reveal unusual or incorrectly entered discounts</a:t>
            </a:r>
            <a:r>
              <a:rPr lang="en-US" dirty="0" smtClean="0"/>
              <a:t>.</a:t>
            </a:r>
          </a:p>
          <a:p>
            <a:r>
              <a:rPr lang="en-US" dirty="0" smtClean="0"/>
              <a:t>Invalid </a:t>
            </a:r>
            <a:r>
              <a:rPr lang="en-US" dirty="0"/>
              <a:t>discounts can be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Any </a:t>
            </a:r>
            <a:r>
              <a:rPr lang="en-US" dirty="0"/>
              <a:t>values that do not follow the required discount format can be </a:t>
            </a:r>
            <a:r>
              <a:rPr lang="en-US" dirty="0" err="1"/>
              <a:t>investigated.This</a:t>
            </a:r>
            <a:r>
              <a:rPr lang="en-US" dirty="0"/>
              <a:t> helps maintain accurate sales calculations.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981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9781"/>
            <a:ext cx="11355388" cy="840756"/>
          </a:xfrm>
        </p:spPr>
        <p:txBody>
          <a:bodyPr>
            <a:no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12: Detect and appropriately handle outliers in sales, profit, and quantity variables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564245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6" y="1405000"/>
            <a:ext cx="6217899" cy="2576893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03633" y="564244"/>
            <a:ext cx="4457499" cy="823912"/>
          </a:xfrm>
        </p:spPr>
        <p:txBody>
          <a:bodyPr/>
          <a:lstStyle/>
          <a:p>
            <a:r>
              <a:rPr lang="en-US" dirty="0" smtClean="0"/>
              <a:t>Explanatio</a:t>
            </a:r>
            <a:r>
              <a:rPr lang="en-US" dirty="0"/>
              <a:t>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03635" y="1388155"/>
            <a:ext cx="4457498" cy="546984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Quartiles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Q1 </a:t>
            </a:r>
            <a:r>
              <a:rPr lang="en-US" dirty="0"/>
              <a:t>and Q3 identify the lower and upper portions of the </a:t>
            </a:r>
            <a:r>
              <a:rPr lang="en-US" dirty="0" err="1"/>
              <a:t>data.They</a:t>
            </a:r>
            <a:r>
              <a:rPr lang="en-US" dirty="0"/>
              <a:t> are used to establish normal value ranges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IQR </a:t>
            </a:r>
            <a:r>
              <a:rPr lang="en-US" dirty="0"/>
              <a:t>and boundaries are determined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IQR measures the spread between Q1 and Q3.Values outside the calculated boundaries may be considered outliers</a:t>
            </a:r>
            <a:r>
              <a:rPr lang="en-US" dirty="0" smtClean="0"/>
              <a:t>.</a:t>
            </a:r>
          </a:p>
          <a:p>
            <a:r>
              <a:rPr lang="en-US" dirty="0" smtClean="0"/>
              <a:t>Outliers </a:t>
            </a:r>
            <a:r>
              <a:rPr lang="en-US" dirty="0"/>
              <a:t>can be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lower and upper bounds provide limits for sales, profit, and </a:t>
            </a:r>
            <a:r>
              <a:rPr lang="en-US" dirty="0" err="1"/>
              <a:t>quantity.Values</a:t>
            </a:r>
            <a:r>
              <a:rPr lang="en-US" dirty="0"/>
              <a:t> beyond these limits require further investigation or appropriate handling.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6" y="3998735"/>
            <a:ext cx="3240783" cy="181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739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80097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QUESTION 13: Produce a cleaned and validated retail sales dataset and export it as a new CSV file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899858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2" y="1999376"/>
            <a:ext cx="6033371" cy="468372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309063" y="899858"/>
            <a:ext cx="4829750" cy="823912"/>
          </a:xfrm>
        </p:spPr>
        <p:txBody>
          <a:bodyPr/>
          <a:lstStyle/>
          <a:p>
            <a:r>
              <a:rPr lang="en-US" dirty="0" smtClean="0"/>
              <a:t>Explanatio</a:t>
            </a:r>
            <a:r>
              <a:rPr lang="en-US" dirty="0"/>
              <a:t>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62878" y="1830014"/>
            <a:ext cx="5359623" cy="502798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cleaned dataset is exported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saves the cleaned </a:t>
            </a:r>
            <a:r>
              <a:rPr lang="en-US" dirty="0" err="1"/>
              <a:t>df</a:t>
            </a:r>
            <a:r>
              <a:rPr lang="en-US" dirty="0"/>
              <a:t> as a new CSV </a:t>
            </a:r>
            <a:r>
              <a:rPr lang="en-US" dirty="0" err="1"/>
              <a:t>file.This</a:t>
            </a:r>
            <a:r>
              <a:rPr lang="en-US" dirty="0"/>
              <a:t> preserves the validated data for future use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/>
              <a:t>index is excluded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index=False </a:t>
            </a:r>
            <a:r>
              <a:rPr lang="en-US" dirty="0"/>
              <a:t>prevents pandas from adding an unnecessary index </a:t>
            </a:r>
            <a:r>
              <a:rPr lang="en-US" dirty="0" err="1"/>
              <a:t>column.This</a:t>
            </a:r>
            <a:r>
              <a:rPr lang="en-US" dirty="0"/>
              <a:t> keeps the exported dataset clean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/>
              <a:t>file can be reused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new CSV can be opened, shared, or imported for further </a:t>
            </a:r>
            <a:r>
              <a:rPr lang="en-US" dirty="0" err="1"/>
              <a:t>analysis.It</a:t>
            </a:r>
            <a:r>
              <a:rPr lang="en-US" dirty="0"/>
              <a:t> also completes the data-cleaning stage of the project.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3494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0557946" cy="834656"/>
          </a:xfrm>
        </p:spPr>
        <p:txBody>
          <a:bodyPr>
            <a:normAutofit/>
          </a:bodyPr>
          <a:lstStyle/>
          <a:p>
            <a:r>
              <a:rPr lang="en-US" sz="2400" dirty="0"/>
              <a:t>Question 14: Analyze sales performance across different branches.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554112"/>
            <a:ext cx="7006856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56" y="1932135"/>
            <a:ext cx="6839301" cy="3326519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585" y="554112"/>
            <a:ext cx="4685415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506586" y="1388767"/>
            <a:ext cx="4653332" cy="534164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Branch sales are grouped together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all transactions according to the Branch </a:t>
            </a:r>
            <a:r>
              <a:rPr lang="en-US" dirty="0" err="1"/>
              <a:t>column.It</a:t>
            </a:r>
            <a:r>
              <a:rPr lang="en-US" dirty="0"/>
              <a:t> then calculates the total sales generated by each branch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sum() function adds together the </a:t>
            </a:r>
            <a:r>
              <a:rPr lang="en-US" dirty="0" err="1"/>
              <a:t>Total_Sales</a:t>
            </a:r>
            <a:r>
              <a:rPr lang="en-US" dirty="0"/>
              <a:t> values for each </a:t>
            </a:r>
            <a:r>
              <a:rPr lang="en-US" dirty="0" err="1"/>
              <a:t>branch.This</a:t>
            </a:r>
            <a:r>
              <a:rPr lang="en-US" dirty="0"/>
              <a:t> gives an overall measure of sales performance for every branch</a:t>
            </a:r>
            <a:r>
              <a:rPr lang="en-US" dirty="0" smtClean="0"/>
              <a:t>.</a:t>
            </a:r>
          </a:p>
          <a:p>
            <a:r>
              <a:rPr lang="en-US" dirty="0" smtClean="0"/>
              <a:t>Branches </a:t>
            </a:r>
            <a:r>
              <a:rPr lang="en-US" dirty="0"/>
              <a:t>are arranged from highest to lowest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 err="1"/>
              <a:t>sort_values</a:t>
            </a:r>
            <a:r>
              <a:rPr lang="en-US" dirty="0"/>
              <a:t>(ascending=False) function places the branch with the highest sales </a:t>
            </a:r>
            <a:r>
              <a:rPr lang="en-US" dirty="0" err="1"/>
              <a:t>first.This</a:t>
            </a:r>
            <a:r>
              <a:rPr lang="en-US" dirty="0"/>
              <a:t> makes it easier to compare branch performance and identify differences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Business </a:t>
            </a:r>
            <a:r>
              <a:rPr lang="en-US" dirty="0"/>
              <a:t>performance can be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resulting output provides a clear comparison of sales across </a:t>
            </a:r>
            <a:r>
              <a:rPr lang="en-US" dirty="0" err="1"/>
              <a:t>branches.It</a:t>
            </a:r>
            <a:r>
              <a:rPr lang="en-US" dirty="0"/>
              <a:t> can be used to identify branches generating higher or lower total sales.</a:t>
            </a:r>
          </a:p>
        </p:txBody>
      </p:sp>
    </p:spTree>
    <p:extLst>
      <p:ext uri="{BB962C8B-B14F-4D97-AF65-F5344CB8AC3E}">
        <p14:creationId xmlns:p14="http://schemas.microsoft.com/office/powerpoint/2010/main" val="4287859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Question 14: Analyze sales performance across different branches.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495" y="1253369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80" y="2188335"/>
            <a:ext cx="5213517" cy="3266167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364423"/>
            <a:ext cx="5183188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254102"/>
            <a:ext cx="5183188" cy="460389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grouped results are converted into a </a:t>
            </a:r>
            <a:r>
              <a:rPr lang="en-US" dirty="0" err="1" smtClean="0"/>
              <a:t>DataFrame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reset_index</a:t>
            </a:r>
            <a:r>
              <a:rPr lang="en-US" dirty="0"/>
              <a:t>() changes the grouped branch results into a standard </a:t>
            </a:r>
            <a:r>
              <a:rPr lang="en-US" dirty="0" err="1"/>
              <a:t>table.This</a:t>
            </a:r>
            <a:r>
              <a:rPr lang="en-US" dirty="0"/>
              <a:t> makes the results easier to read and use for further analysis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Column </a:t>
            </a:r>
            <a:r>
              <a:rPr lang="en-US" dirty="0"/>
              <a:t>names are standardized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columns are renamed to Branch and </a:t>
            </a:r>
            <a:r>
              <a:rPr lang="en-US" dirty="0" err="1"/>
              <a:t>Total_Sales.This</a:t>
            </a:r>
            <a:r>
              <a:rPr lang="en-US" dirty="0"/>
              <a:t> gives the table clear and understandable labels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/>
              <a:t>table presents branch sales clearly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Each </a:t>
            </a:r>
            <a:r>
              <a:rPr lang="en-US" dirty="0"/>
              <a:t>row represents a different branch and its corresponding total </a:t>
            </a:r>
            <a:r>
              <a:rPr lang="en-US" dirty="0" err="1"/>
              <a:t>sales.This</a:t>
            </a:r>
            <a:r>
              <a:rPr lang="en-US" dirty="0"/>
              <a:t> format is useful for reporting and creating visualizations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Results </a:t>
            </a:r>
            <a:r>
              <a:rPr lang="en-US" dirty="0"/>
              <a:t>can be used for further analysis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resulting </a:t>
            </a:r>
            <a:r>
              <a:rPr lang="en-US" dirty="0" err="1"/>
              <a:t>DataFrame</a:t>
            </a:r>
            <a:r>
              <a:rPr lang="en-US" dirty="0"/>
              <a:t> can easily be used to create charts or </a:t>
            </a:r>
            <a:r>
              <a:rPr lang="en-US" dirty="0" err="1"/>
              <a:t>comparisons.It</a:t>
            </a:r>
            <a:r>
              <a:rPr lang="en-US" dirty="0"/>
              <a:t> also provides a structured summary of branch-level sales performance.</a:t>
            </a:r>
          </a:p>
        </p:txBody>
      </p:sp>
    </p:spTree>
    <p:extLst>
      <p:ext uri="{BB962C8B-B14F-4D97-AF65-F5344CB8AC3E}">
        <p14:creationId xmlns:p14="http://schemas.microsoft.com/office/powerpoint/2010/main" val="25145844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13391"/>
          </a:xfrm>
        </p:spPr>
        <p:txBody>
          <a:bodyPr>
            <a:normAutofit/>
          </a:bodyPr>
          <a:lstStyle/>
          <a:p>
            <a:r>
              <a:rPr lang="en-US" sz="2400" dirty="0"/>
              <a:t>Question 14: Analyze sales performance across different </a:t>
            </a:r>
            <a:r>
              <a:rPr lang="en-US" sz="2400" dirty="0" smtClean="0"/>
              <a:t>branches.</a:t>
            </a:r>
            <a:endParaRPr 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718917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3716"/>
            <a:ext cx="5257800" cy="4209386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25363" y="208000"/>
            <a:ext cx="5183188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56067" y="1172588"/>
            <a:ext cx="5183188" cy="556845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Several performance measures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summarizes each branch using total sales, average sales, quantity sold, and </a:t>
            </a:r>
            <a:r>
              <a:rPr lang="en-US" dirty="0" err="1"/>
              <a:t>profit.This</a:t>
            </a:r>
            <a:r>
              <a:rPr lang="en-US" dirty="0"/>
              <a:t> provides a broader view of branch performance rather than relying on sales alone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and average sales are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Total_Sales</a:t>
            </a:r>
            <a:r>
              <a:rPr lang="en-US" dirty="0" smtClean="0"/>
              <a:t> </a:t>
            </a:r>
            <a:r>
              <a:rPr lang="en-US" dirty="0"/>
              <a:t>shows the overall revenue generated by each </a:t>
            </a:r>
            <a:r>
              <a:rPr lang="en-US" dirty="0" err="1"/>
              <a:t>branch.Average_Sales</a:t>
            </a:r>
            <a:r>
              <a:rPr lang="en-US" dirty="0"/>
              <a:t> shows the average value of individual transactions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Quantity </a:t>
            </a:r>
            <a:r>
              <a:rPr lang="en-US" dirty="0"/>
              <a:t>and profit are </a:t>
            </a:r>
            <a:r>
              <a:rPr lang="en-US" dirty="0" smtClean="0"/>
              <a:t>included:</a:t>
            </a:r>
          </a:p>
          <a:p>
            <a:pPr lvl="1"/>
            <a:r>
              <a:rPr lang="en-US" dirty="0" err="1" smtClean="0"/>
              <a:t>Total_Quantity</a:t>
            </a:r>
            <a:r>
              <a:rPr lang="en-US" dirty="0" smtClean="0"/>
              <a:t> </a:t>
            </a:r>
            <a:r>
              <a:rPr lang="en-US" dirty="0"/>
              <a:t>indicates the number of products sold by each </a:t>
            </a:r>
            <a:r>
              <a:rPr lang="en-US" dirty="0" err="1"/>
              <a:t>branch.Total_Profit</a:t>
            </a:r>
            <a:r>
              <a:rPr lang="en-US" dirty="0"/>
              <a:t> shows the amount of profit generated by each branch</a:t>
            </a:r>
            <a:r>
              <a:rPr lang="en-US" dirty="0" smtClean="0"/>
              <a:t>.</a:t>
            </a:r>
          </a:p>
          <a:p>
            <a:r>
              <a:rPr lang="en-US" dirty="0" smtClean="0"/>
              <a:t>Branches </a:t>
            </a:r>
            <a:r>
              <a:rPr lang="en-US" dirty="0"/>
              <a:t>are ranked by total sales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are sorted from the highest to the lowest total </a:t>
            </a:r>
            <a:r>
              <a:rPr lang="en-US" dirty="0" err="1"/>
              <a:t>sales.This</a:t>
            </a:r>
            <a:r>
              <a:rPr lang="en-US" dirty="0"/>
              <a:t> makes it easier to identify differences in overall branch performance and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2506343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4706"/>
            <a:ext cx="10515600" cy="990072"/>
          </a:xfrm>
        </p:spPr>
        <p:txBody>
          <a:bodyPr>
            <a:normAutofit/>
          </a:bodyPr>
          <a:lstStyle/>
          <a:p>
            <a:r>
              <a:rPr lang="en-US" sz="2400" dirty="0"/>
              <a:t>Question 15: Analyze monthly and quarterly sales trends.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63617"/>
            <a:ext cx="5125705" cy="476888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80781"/>
            <a:ext cx="5000882" cy="1676486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90367" y="139800"/>
            <a:ext cx="4143153" cy="82391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7990367" y="1129871"/>
            <a:ext cx="3886016" cy="5589905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Sales dates are converted to date format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pd.to_datetime</a:t>
            </a:r>
            <a:r>
              <a:rPr lang="en-US" dirty="0"/>
              <a:t>() ensures that the </a:t>
            </a:r>
            <a:r>
              <a:rPr lang="en-US" dirty="0" err="1"/>
              <a:t>Sales_Date</a:t>
            </a:r>
            <a:r>
              <a:rPr lang="en-US" dirty="0"/>
              <a:t> column is recognized correctly as a </a:t>
            </a:r>
            <a:r>
              <a:rPr lang="en-US" dirty="0" err="1"/>
              <a:t>date.This</a:t>
            </a:r>
            <a:r>
              <a:rPr lang="en-US" dirty="0"/>
              <a:t> allows the dates to be used for time-based analysis</a:t>
            </a:r>
            <a:r>
              <a:rPr lang="en-US" dirty="0" smtClean="0"/>
              <a:t>.</a:t>
            </a:r>
          </a:p>
          <a:p>
            <a:r>
              <a:rPr lang="en-US" dirty="0" smtClean="0"/>
              <a:t>Sales </a:t>
            </a:r>
            <a:r>
              <a:rPr lang="en-US" dirty="0"/>
              <a:t>are grouped by month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.</a:t>
            </a:r>
            <a:r>
              <a:rPr lang="en-US" dirty="0" err="1"/>
              <a:t>dt.to_period</a:t>
            </a:r>
            <a:r>
              <a:rPr lang="en-US" dirty="0"/>
              <a:t>("M") extracts the year and month from each transaction </a:t>
            </a:r>
            <a:r>
              <a:rPr lang="en-US" dirty="0" err="1"/>
              <a:t>date.The</a:t>
            </a:r>
            <a:r>
              <a:rPr lang="en-US" dirty="0"/>
              <a:t> </a:t>
            </a:r>
            <a:r>
              <a:rPr lang="en-US" dirty="0" err="1"/>
              <a:t>groupby</a:t>
            </a:r>
            <a:r>
              <a:rPr lang="en-US" dirty="0"/>
              <a:t>() function then combines transactions belonging to the same month</a:t>
            </a:r>
            <a:r>
              <a:rPr lang="en-US" dirty="0" smtClean="0"/>
              <a:t>.</a:t>
            </a:r>
          </a:p>
          <a:p>
            <a:r>
              <a:rPr lang="en-US" dirty="0" smtClean="0"/>
              <a:t>Monthly </a:t>
            </a:r>
            <a:r>
              <a:rPr lang="en-US" dirty="0"/>
              <a:t>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sum() function adds all </a:t>
            </a:r>
            <a:r>
              <a:rPr lang="en-US" dirty="0" err="1"/>
              <a:t>Total_Sales</a:t>
            </a:r>
            <a:r>
              <a:rPr lang="en-US" dirty="0"/>
              <a:t> values recorded during each </a:t>
            </a:r>
            <a:r>
              <a:rPr lang="en-US" dirty="0" err="1"/>
              <a:t>month.This</a:t>
            </a:r>
            <a:r>
              <a:rPr lang="en-US" dirty="0"/>
              <a:t> shows the total sales generated for every month in the dataset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Monthly </a:t>
            </a:r>
            <a:r>
              <a:rPr lang="en-US" dirty="0"/>
              <a:t>trends can be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can be used to identify months with higher or lower </a:t>
            </a:r>
            <a:r>
              <a:rPr lang="en-US" dirty="0" err="1"/>
              <a:t>sales.This</a:t>
            </a:r>
            <a:r>
              <a:rPr lang="en-US" dirty="0"/>
              <a:t> helps reveal changes in sales performance over the period studied.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0" y="2757267"/>
            <a:ext cx="3324396" cy="375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692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0833"/>
            <a:ext cx="11355388" cy="804456"/>
          </a:xfrm>
        </p:spPr>
        <p:txBody>
          <a:bodyPr>
            <a:normAutofit/>
          </a:bodyPr>
          <a:lstStyle/>
          <a:p>
            <a:r>
              <a:rPr lang="en-US" sz="2400" dirty="0"/>
              <a:t>Question 15: Analyze monthly and quarterly sales trends.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530" y="724233"/>
            <a:ext cx="3939364" cy="530409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3796" y="1467293"/>
            <a:ext cx="5619307" cy="3896150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4581" y="614640"/>
            <a:ext cx="4986486" cy="593263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84581" y="1254641"/>
            <a:ext cx="5183188" cy="54226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Sales are grouped into quarters</a:t>
            </a:r>
            <a:r>
              <a:rPr lang="en-US" dirty="0" smtClean="0"/>
              <a:t>:.</a:t>
            </a:r>
          </a:p>
          <a:p>
            <a:pPr lvl="1"/>
            <a:r>
              <a:rPr lang="en-US" dirty="0" err="1" smtClean="0"/>
              <a:t>dt.to_period</a:t>
            </a:r>
            <a:r>
              <a:rPr lang="en-US" dirty="0"/>
              <a:t>("Q") divides the sales dates into quarterly </a:t>
            </a:r>
            <a:r>
              <a:rPr lang="en-US" dirty="0" err="1"/>
              <a:t>periods.Each</a:t>
            </a:r>
            <a:r>
              <a:rPr lang="en-US" dirty="0"/>
              <a:t> quarter represents three consecutive months of sales activity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quarterly 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sum() function adds the sales transactions recorded within each </a:t>
            </a:r>
            <a:r>
              <a:rPr lang="en-US" dirty="0" err="1"/>
              <a:t>quarter.This</a:t>
            </a:r>
            <a:r>
              <a:rPr lang="en-US" dirty="0"/>
              <a:t> provides an overall measure of sales performance for each three-month period</a:t>
            </a:r>
            <a:r>
              <a:rPr lang="en-US" dirty="0" smtClean="0"/>
              <a:t>.</a:t>
            </a:r>
          </a:p>
          <a:p>
            <a:r>
              <a:rPr lang="en-US" dirty="0" smtClean="0"/>
              <a:t>Quarterly </a:t>
            </a:r>
            <a:r>
              <a:rPr lang="en-US" dirty="0"/>
              <a:t>performance can be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allows us to compare sales between different </a:t>
            </a:r>
            <a:r>
              <a:rPr lang="en-US" dirty="0" err="1"/>
              <a:t>quarters.This</a:t>
            </a:r>
            <a:r>
              <a:rPr lang="en-US" dirty="0"/>
              <a:t> can show whether sales increased, decreased, or remained relatively stable</a:t>
            </a:r>
          </a:p>
        </p:txBody>
      </p:sp>
    </p:spTree>
    <p:extLst>
      <p:ext uri="{BB962C8B-B14F-4D97-AF65-F5344CB8AC3E}">
        <p14:creationId xmlns:p14="http://schemas.microsoft.com/office/powerpoint/2010/main" val="26982517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30" y="104775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dirty="0"/>
              <a:t>Question 16: Determine the best-selling products based on quantity sold.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30" y="671069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3" y="1584251"/>
            <a:ext cx="6635750" cy="4768701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08605" y="887818"/>
            <a:ext cx="4483395" cy="542519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48107" y="1494981"/>
            <a:ext cx="4678326" cy="530985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Products are grouped together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transactions according to </a:t>
            </a:r>
            <a:r>
              <a:rPr lang="en-US" dirty="0" err="1"/>
              <a:t>Product_Name.This</a:t>
            </a:r>
            <a:r>
              <a:rPr lang="en-US" dirty="0"/>
              <a:t> allows the total quantity sold for each product to be calculated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quantity is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sum</a:t>
            </a:r>
            <a:r>
              <a:rPr lang="en-US" dirty="0"/>
              <a:t>() adds the quantities sold for each </a:t>
            </a:r>
            <a:r>
              <a:rPr lang="en-US" dirty="0" err="1"/>
              <a:t>product.This</a:t>
            </a:r>
            <a:r>
              <a:rPr lang="en-US" dirty="0"/>
              <a:t> shows how many units of each product were sold</a:t>
            </a:r>
            <a:r>
              <a:rPr lang="en-US" dirty="0" smtClean="0"/>
              <a:t>.</a:t>
            </a:r>
          </a:p>
          <a:p>
            <a:r>
              <a:rPr lang="en-US" dirty="0" smtClean="0"/>
              <a:t>Products </a:t>
            </a:r>
            <a:r>
              <a:rPr lang="en-US" dirty="0"/>
              <a:t>are ranked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sort_values</a:t>
            </a:r>
            <a:r>
              <a:rPr lang="en-US" dirty="0" smtClean="0"/>
              <a:t>(ascending=False</a:t>
            </a:r>
            <a:r>
              <a:rPr lang="en-US" dirty="0"/>
              <a:t>) arranges products from highest to lowest quantity </a:t>
            </a:r>
            <a:r>
              <a:rPr lang="en-US" dirty="0" err="1"/>
              <a:t>sold.The</a:t>
            </a:r>
            <a:r>
              <a:rPr lang="en-US" dirty="0"/>
              <a:t> products at the top are the best-selling products</a:t>
            </a:r>
            <a:r>
              <a:rPr lang="en-US" dirty="0" smtClean="0"/>
              <a:t>.</a:t>
            </a:r>
          </a:p>
          <a:p>
            <a:r>
              <a:rPr lang="en-US" dirty="0" smtClean="0"/>
              <a:t>Sales </a:t>
            </a:r>
            <a:r>
              <a:rPr lang="en-US" dirty="0"/>
              <a:t>performance can be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show which products have the highest </a:t>
            </a:r>
            <a:r>
              <a:rPr lang="en-US" dirty="0" err="1"/>
              <a:t>demand.This</a:t>
            </a:r>
            <a:r>
              <a:rPr lang="en-US" dirty="0"/>
              <a:t> can help with stock and inventory planning.</a:t>
            </a:r>
          </a:p>
        </p:txBody>
      </p:sp>
    </p:spTree>
    <p:extLst>
      <p:ext uri="{BB962C8B-B14F-4D97-AF65-F5344CB8AC3E}">
        <p14:creationId xmlns:p14="http://schemas.microsoft.com/office/powerpoint/2010/main" val="2985292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1" y="0"/>
            <a:ext cx="7942705" cy="939393"/>
          </a:xfrm>
        </p:spPr>
        <p:txBody>
          <a:bodyPr>
            <a:normAutofit/>
          </a:bodyPr>
          <a:lstStyle/>
          <a:p>
            <a:r>
              <a:rPr lang="en-US" sz="2400" dirty="0"/>
              <a:t>Question 17: Determine the Most Profitable Product Categories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11" y="426521"/>
            <a:ext cx="5157787" cy="82391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3" y="1250433"/>
            <a:ext cx="6162675" cy="4847339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06316" y="47848"/>
            <a:ext cx="4185684" cy="891546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80005" y="882502"/>
            <a:ext cx="4711995" cy="57681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Categories are grouped </a:t>
            </a:r>
            <a:r>
              <a:rPr lang="en-US" dirty="0" smtClean="0"/>
              <a:t>together: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products according to their category and calculates total </a:t>
            </a:r>
            <a:r>
              <a:rPr lang="en-US" dirty="0" err="1"/>
              <a:t>profit.This</a:t>
            </a:r>
            <a:r>
              <a:rPr lang="en-US" dirty="0"/>
              <a:t> shows how much profit each category </a:t>
            </a:r>
            <a:r>
              <a:rPr lang="en-US" dirty="0" smtClean="0"/>
              <a:t>generates.</a:t>
            </a:r>
          </a:p>
          <a:p>
            <a:r>
              <a:rPr lang="en-US" dirty="0" smtClean="0"/>
              <a:t>Categories are ranked:</a:t>
            </a:r>
          </a:p>
          <a:p>
            <a:pPr lvl="1"/>
            <a:r>
              <a:rPr lang="en-US" dirty="0" smtClean="0"/>
              <a:t>The results </a:t>
            </a:r>
            <a:r>
              <a:rPr lang="en-US" dirty="0"/>
              <a:t>are sorted from the highest to the lowest </a:t>
            </a:r>
            <a:r>
              <a:rPr lang="en-US" dirty="0" err="1"/>
              <a:t>profit.Categories</a:t>
            </a:r>
            <a:r>
              <a:rPr lang="en-US" dirty="0"/>
              <a:t> at the top generate the most </a:t>
            </a:r>
            <a:r>
              <a:rPr lang="en-US" dirty="0" smtClean="0"/>
              <a:t>profit.</a:t>
            </a:r>
          </a:p>
          <a:p>
            <a:r>
              <a:rPr lang="en-US" dirty="0" smtClean="0"/>
              <a:t>Profitability </a:t>
            </a:r>
            <a:r>
              <a:rPr lang="en-US" dirty="0"/>
              <a:t>is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help identify which product categories contribute most to business </a:t>
            </a:r>
            <a:r>
              <a:rPr lang="en-US" dirty="0" err="1"/>
              <a:t>profit.This</a:t>
            </a:r>
            <a:r>
              <a:rPr lang="en-US" dirty="0"/>
              <a:t> can support decisions about product and category performance.</a:t>
            </a:r>
          </a:p>
        </p:txBody>
      </p:sp>
    </p:spTree>
    <p:extLst>
      <p:ext uri="{BB962C8B-B14F-4D97-AF65-F5344CB8AC3E}">
        <p14:creationId xmlns:p14="http://schemas.microsoft.com/office/powerpoint/2010/main" val="4007352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355388" cy="813390"/>
          </a:xfrm>
        </p:spPr>
        <p:txBody>
          <a:bodyPr>
            <a:normAutofit/>
          </a:bodyPr>
          <a:lstStyle/>
          <a:p>
            <a:r>
              <a:rPr lang="en-US" sz="2400" dirty="0"/>
              <a:t>Question 18: Analyze Customer Purchasing Behavior Based on Age and Gender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53902"/>
            <a:ext cx="4827181" cy="473149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1" y="1073889"/>
            <a:ext cx="4377931" cy="1381196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93664" y="568843"/>
            <a:ext cx="4398335" cy="505046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76977" y="1127050"/>
            <a:ext cx="5015023" cy="569373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Customers are grouped by age and gender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combines </a:t>
            </a:r>
            <a:r>
              <a:rPr lang="en-US" dirty="0" err="1"/>
              <a:t>Customer_Age</a:t>
            </a:r>
            <a:r>
              <a:rPr lang="en-US" dirty="0"/>
              <a:t> and </a:t>
            </a:r>
            <a:r>
              <a:rPr lang="en-US" dirty="0" err="1"/>
              <a:t>Customer_Gender</a:t>
            </a:r>
            <a:r>
              <a:rPr lang="en-US" dirty="0"/>
              <a:t> to analyze purchasing </a:t>
            </a:r>
            <a:r>
              <a:rPr lang="en-US" dirty="0" err="1"/>
              <a:t>patterns.This</a:t>
            </a:r>
            <a:r>
              <a:rPr lang="en-US" dirty="0"/>
              <a:t> shows sales generated by different customer groups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sum</a:t>
            </a:r>
            <a:r>
              <a:rPr lang="en-US" dirty="0"/>
              <a:t>() calculates the total sales for each age and gender </a:t>
            </a:r>
            <a:r>
              <a:rPr lang="en-US" dirty="0" err="1"/>
              <a:t>combination.This</a:t>
            </a:r>
            <a:r>
              <a:rPr lang="en-US" dirty="0"/>
              <a:t> helps identify groups contributing more to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Customer </a:t>
            </a:r>
            <a:r>
              <a:rPr lang="en-US" dirty="0"/>
              <a:t>purchasing behavior is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show differences in sales between customer </a:t>
            </a:r>
            <a:r>
              <a:rPr lang="en-US" dirty="0" err="1"/>
              <a:t>groups.This</a:t>
            </a:r>
            <a:r>
              <a:rPr lang="en-US" dirty="0"/>
              <a:t> can help understand the main customer segments.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49" y="2455085"/>
            <a:ext cx="4465844" cy="413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023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393141" cy="698131"/>
          </a:xfrm>
        </p:spPr>
        <p:txBody>
          <a:bodyPr>
            <a:normAutofit/>
          </a:bodyPr>
          <a:lstStyle/>
          <a:p>
            <a:r>
              <a:rPr lang="en-US" sz="2400" dirty="0"/>
              <a:t>Question 19: Compare Sales Generated by Different Payment Methods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564744"/>
            <a:ext cx="5088491" cy="461297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9" y="1164265"/>
            <a:ext cx="5767277" cy="414138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46581" y="588666"/>
            <a:ext cx="4545419" cy="413451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46580" y="1059046"/>
            <a:ext cx="4545419" cy="56873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Payment methods are </a:t>
            </a:r>
            <a:r>
              <a:rPr lang="en-US" dirty="0" err="1" smtClean="0"/>
              <a:t>grouped:T</a:t>
            </a:r>
            <a:endParaRPr lang="en-US" dirty="0" smtClean="0"/>
          </a:p>
          <a:p>
            <a:pPr lvl="1"/>
            <a:r>
              <a:rPr lang="en-US" dirty="0" err="1" smtClean="0"/>
              <a:t>ransactions</a:t>
            </a:r>
            <a:r>
              <a:rPr lang="en-US" dirty="0" smtClean="0"/>
              <a:t> </a:t>
            </a:r>
            <a:r>
              <a:rPr lang="en-US" dirty="0"/>
              <a:t>are grouped according to the payment method </a:t>
            </a:r>
            <a:r>
              <a:rPr lang="en-US" dirty="0" err="1"/>
              <a:t>used.This</a:t>
            </a:r>
            <a:r>
              <a:rPr lang="en-US" dirty="0"/>
              <a:t> allows total sales for each method to be calculated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Sales </a:t>
            </a:r>
            <a:r>
              <a:rPr lang="en-US" dirty="0"/>
              <a:t>are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sum() function calculates total sales for each payment </a:t>
            </a:r>
            <a:r>
              <a:rPr lang="en-US" dirty="0" err="1"/>
              <a:t>method.The</a:t>
            </a:r>
            <a:r>
              <a:rPr lang="en-US" dirty="0"/>
              <a:t> results are arranged from highest to lowest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Payment </a:t>
            </a:r>
            <a:r>
              <a:rPr lang="en-US" dirty="0"/>
              <a:t>performance is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shows which payment methods generate more </a:t>
            </a:r>
            <a:r>
              <a:rPr lang="en-US" dirty="0" err="1"/>
              <a:t>sales.This</a:t>
            </a:r>
            <a:r>
              <a:rPr lang="en-US" dirty="0"/>
              <a:t> provides insight into customer payment preferences.</a:t>
            </a:r>
          </a:p>
        </p:txBody>
      </p:sp>
    </p:spTree>
    <p:extLst>
      <p:ext uri="{BB962C8B-B14F-4D97-AF65-F5344CB8AC3E}">
        <p14:creationId xmlns:p14="http://schemas.microsoft.com/office/powerpoint/2010/main" val="12675424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1355388" cy="650284"/>
          </a:xfrm>
        </p:spPr>
        <p:txBody>
          <a:bodyPr>
            <a:normAutofit/>
          </a:bodyPr>
          <a:lstStyle/>
          <a:p>
            <a:r>
              <a:rPr lang="en-US" sz="2400" dirty="0"/>
              <a:t>Question 20: Analyze Customer Satisfaction Ratings Across Branches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527530"/>
            <a:ext cx="5157787" cy="445349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22474"/>
            <a:ext cx="6464300" cy="418391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30879" y="527530"/>
            <a:ext cx="4295369" cy="477246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30878" y="972878"/>
            <a:ext cx="4361121" cy="576284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Ratings are grouped by branch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calculates the average customer rating for each </a:t>
            </a:r>
            <a:r>
              <a:rPr lang="en-US" dirty="0" err="1"/>
              <a:t>branch.This</a:t>
            </a:r>
            <a:r>
              <a:rPr lang="en-US" dirty="0"/>
              <a:t> shows the satisfaction level of customers at each branch</a:t>
            </a:r>
            <a:r>
              <a:rPr lang="en-US" dirty="0" smtClean="0"/>
              <a:t>.</a:t>
            </a:r>
          </a:p>
          <a:p>
            <a:r>
              <a:rPr lang="en-US" dirty="0" smtClean="0"/>
              <a:t>Branch </a:t>
            </a:r>
            <a:r>
              <a:rPr lang="en-US" dirty="0"/>
              <a:t>ratings are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are arranged from the highest to the lowest average </a:t>
            </a:r>
            <a:r>
              <a:rPr lang="en-US" dirty="0" err="1"/>
              <a:t>rating.This</a:t>
            </a:r>
            <a:r>
              <a:rPr lang="en-US" dirty="0"/>
              <a:t> makes differences in customer satisfaction easier to identify</a:t>
            </a:r>
            <a:r>
              <a:rPr lang="en-US" dirty="0" smtClean="0"/>
              <a:t>.</a:t>
            </a:r>
          </a:p>
          <a:p>
            <a:r>
              <a:rPr lang="en-US" dirty="0" smtClean="0"/>
              <a:t>Customer </a:t>
            </a:r>
            <a:r>
              <a:rPr lang="en-US" dirty="0"/>
              <a:t>satisfaction is evaluated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helps determine which branches receive higher or lower </a:t>
            </a:r>
            <a:r>
              <a:rPr lang="en-US" dirty="0" err="1"/>
              <a:t>ratings.This</a:t>
            </a:r>
            <a:r>
              <a:rPr lang="en-US" dirty="0"/>
              <a:t> can highlight areas that may need improvement.</a:t>
            </a:r>
          </a:p>
        </p:txBody>
      </p:sp>
    </p:spTree>
    <p:extLst>
      <p:ext uri="{BB962C8B-B14F-4D97-AF65-F5344CB8AC3E}">
        <p14:creationId xmlns:p14="http://schemas.microsoft.com/office/powerpoint/2010/main" val="1838726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728067" cy="751294"/>
          </a:xfrm>
        </p:spPr>
        <p:txBody>
          <a:bodyPr>
            <a:normAutofit/>
          </a:bodyPr>
          <a:lstStyle/>
          <a:p>
            <a:r>
              <a:rPr lang="en-US" sz="2400" dirty="0"/>
              <a:t>Question 21: Determine the Impact of Promotional Campaigns on Sales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532257"/>
            <a:ext cx="5157787" cy="455981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2233"/>
            <a:ext cx="5736265" cy="3466214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165803" y="532257"/>
            <a:ext cx="3785007" cy="503828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581014" y="1100470"/>
            <a:ext cx="4610985" cy="508919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Promotions are grouped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transactions according to whether a promotion was </a:t>
            </a:r>
            <a:r>
              <a:rPr lang="en-US" dirty="0" err="1"/>
              <a:t>applied.This</a:t>
            </a:r>
            <a:r>
              <a:rPr lang="en-US" dirty="0"/>
              <a:t> allows sales under different promotion conditions to be </a:t>
            </a:r>
            <a:r>
              <a:rPr lang="en-US" dirty="0" smtClean="0"/>
              <a:t>compared.</a:t>
            </a:r>
          </a:p>
          <a:p>
            <a:r>
              <a:rPr lang="en-US" dirty="0" smtClean="0"/>
              <a:t>Total </a:t>
            </a:r>
            <a:r>
              <a:rPr lang="en-US" dirty="0"/>
              <a:t>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sum</a:t>
            </a:r>
            <a:r>
              <a:rPr lang="en-US" dirty="0"/>
              <a:t>() calculates the total sales generated for each promotion </a:t>
            </a:r>
            <a:r>
              <a:rPr lang="en-US" dirty="0" err="1"/>
              <a:t>category.The</a:t>
            </a:r>
            <a:r>
              <a:rPr lang="en-US" dirty="0"/>
              <a:t> results are arranged from highest to lowest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Promotional </a:t>
            </a:r>
            <a:r>
              <a:rPr lang="en-US" dirty="0"/>
              <a:t>impact is examined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shows differences in sales between promotion </a:t>
            </a:r>
            <a:r>
              <a:rPr lang="en-US" dirty="0" err="1"/>
              <a:t>groups.This</a:t>
            </a:r>
            <a:r>
              <a:rPr lang="en-US" dirty="0"/>
              <a:t> helps assess how promotions relate to overall sales performance.</a:t>
            </a:r>
          </a:p>
        </p:txBody>
      </p:sp>
    </p:spTree>
    <p:extLst>
      <p:ext uri="{BB962C8B-B14F-4D97-AF65-F5344CB8AC3E}">
        <p14:creationId xmlns:p14="http://schemas.microsoft.com/office/powerpoint/2010/main" val="5729276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Question 22: Analyze the Relationship Between Discounts and Total Sales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382" y="2567763"/>
            <a:ext cx="5285194" cy="326419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431039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Discounts are grouped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transactions according to their discount </a:t>
            </a:r>
            <a:r>
              <a:rPr lang="en-US" dirty="0" err="1"/>
              <a:t>values.This</a:t>
            </a:r>
            <a:r>
              <a:rPr lang="en-US" dirty="0"/>
              <a:t> allows sales at different discount levels to be compared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Total </a:t>
            </a:r>
            <a:r>
              <a:rPr lang="en-US" dirty="0"/>
              <a:t>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sum</a:t>
            </a:r>
            <a:r>
              <a:rPr lang="en-US" dirty="0"/>
              <a:t>() calculates the total sales generated at each discount </a:t>
            </a:r>
            <a:r>
              <a:rPr lang="en-US" dirty="0" err="1"/>
              <a:t>level.The</a:t>
            </a:r>
            <a:r>
              <a:rPr lang="en-US" dirty="0"/>
              <a:t> results are arranged from highest to lowest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/>
              <a:t>relationship is examined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output shows how different discount levels are associated with total </a:t>
            </a:r>
            <a:r>
              <a:rPr lang="en-US" dirty="0" err="1"/>
              <a:t>sales.This</a:t>
            </a:r>
            <a:r>
              <a:rPr lang="en-US" dirty="0"/>
              <a:t> helps assess sales performance under different discount conditions.</a:t>
            </a:r>
          </a:p>
        </p:txBody>
      </p:sp>
    </p:spTree>
    <p:extLst>
      <p:ext uri="{BB962C8B-B14F-4D97-AF65-F5344CB8AC3E}">
        <p14:creationId xmlns:p14="http://schemas.microsoft.com/office/powerpoint/2010/main" val="9579353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Question 23: Analyze Return Patterns and Common Return Reasons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37" y="2892055"/>
            <a:ext cx="5678402" cy="2690037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423596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Return statuses are </a:t>
            </a:r>
            <a:endParaRPr lang="en-US" dirty="0" smtClean="0"/>
          </a:p>
          <a:p>
            <a:pPr lvl="1"/>
            <a:r>
              <a:rPr lang="en-US" dirty="0" smtClean="0"/>
              <a:t> </a:t>
            </a:r>
            <a:r>
              <a:rPr lang="en-US" dirty="0"/>
              <a:t>code counts how many transactions were returned and not </a:t>
            </a:r>
            <a:r>
              <a:rPr lang="en-US" dirty="0" err="1"/>
              <a:t>returned.This</a:t>
            </a:r>
            <a:r>
              <a:rPr lang="en-US" dirty="0"/>
              <a:t> shows the overall return pattern in the dataset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Return </a:t>
            </a:r>
            <a:r>
              <a:rPr lang="en-US" dirty="0"/>
              <a:t>frequency is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value_counts</a:t>
            </a:r>
            <a:r>
              <a:rPr lang="en-US" dirty="0"/>
              <a:t>() shows the number of transactions for each return </a:t>
            </a:r>
            <a:r>
              <a:rPr lang="en-US" dirty="0" err="1"/>
              <a:t>status.This</a:t>
            </a:r>
            <a:r>
              <a:rPr lang="en-US" dirty="0"/>
              <a:t> helps determine how common product returns are</a:t>
            </a:r>
            <a:r>
              <a:rPr lang="en-US" dirty="0" smtClean="0"/>
              <a:t>.</a:t>
            </a:r>
          </a:p>
          <a:p>
            <a:r>
              <a:rPr lang="en-US" dirty="0" smtClean="0"/>
              <a:t>Return </a:t>
            </a:r>
            <a:r>
              <a:rPr lang="en-US" dirty="0"/>
              <a:t>patterns are </a:t>
            </a:r>
            <a:endParaRPr lang="en-US" dirty="0" smtClean="0"/>
          </a:p>
          <a:p>
            <a:pPr lvl="1"/>
            <a:r>
              <a:rPr lang="en-US" dirty="0" smtClean="0"/>
              <a:t> </a:t>
            </a:r>
            <a:r>
              <a:rPr lang="en-US" dirty="0"/>
              <a:t>results provide an overview of customer </a:t>
            </a:r>
            <a:r>
              <a:rPr lang="en-US" dirty="0" err="1"/>
              <a:t>returns.This</a:t>
            </a:r>
            <a:r>
              <a:rPr lang="en-US" dirty="0"/>
              <a:t> can help identify whether returns are frequent or relatively low.</a:t>
            </a:r>
          </a:p>
        </p:txBody>
      </p:sp>
    </p:spTree>
    <p:extLst>
      <p:ext uri="{BB962C8B-B14F-4D97-AF65-F5344CB8AC3E}">
        <p14:creationId xmlns:p14="http://schemas.microsoft.com/office/powerpoint/2010/main" val="1703705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Question 23: Analyze Return Patterns and Common Return Reasons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28" y="2801679"/>
            <a:ext cx="5731247" cy="281231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Returned products are filtered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selects only transactions where the product was </a:t>
            </a:r>
            <a:r>
              <a:rPr lang="en-US" dirty="0" err="1"/>
              <a:t>returned.This</a:t>
            </a:r>
            <a:r>
              <a:rPr lang="en-US" dirty="0"/>
              <a:t> focuses the analysis specifically on returned items</a:t>
            </a:r>
            <a:r>
              <a:rPr lang="en-US" dirty="0" smtClean="0"/>
              <a:t>.</a:t>
            </a:r>
          </a:p>
          <a:p>
            <a:r>
              <a:rPr lang="en-US" dirty="0" smtClean="0"/>
              <a:t>Return </a:t>
            </a:r>
            <a:r>
              <a:rPr lang="en-US" dirty="0"/>
              <a:t>reasons are counted</a:t>
            </a:r>
            <a:r>
              <a:rPr lang="en-US" dirty="0" smtClean="0"/>
              <a:t>:</a:t>
            </a:r>
          </a:p>
          <a:p>
            <a:pPr lvl="1"/>
            <a:r>
              <a:rPr lang="en-US" dirty="0" err="1" smtClean="0"/>
              <a:t>value_counts</a:t>
            </a:r>
            <a:r>
              <a:rPr lang="en-US" dirty="0"/>
              <a:t>() calculates how often each return reason </a:t>
            </a:r>
            <a:r>
              <a:rPr lang="en-US" dirty="0" err="1"/>
              <a:t>occurs.This</a:t>
            </a:r>
            <a:r>
              <a:rPr lang="en-US" dirty="0"/>
              <a:t> identifies the most common reasons for product returns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Common </a:t>
            </a:r>
            <a:r>
              <a:rPr lang="en-US" dirty="0"/>
              <a:t>problems are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show the main reasons customers return </a:t>
            </a:r>
            <a:r>
              <a:rPr lang="en-US" dirty="0" err="1"/>
              <a:t>products.This</a:t>
            </a:r>
            <a:r>
              <a:rPr lang="en-US" dirty="0"/>
              <a:t> can help the business understand areas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35613597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Question 24: Identify Branches with the Highest and Lowest Sales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65" y="2508374"/>
            <a:ext cx="4502408" cy="3355482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430507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Branch sales are calculated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Total </a:t>
            </a:r>
            <a:r>
              <a:rPr lang="en-US" dirty="0"/>
              <a:t>sales are grouped by branch to measure overall </a:t>
            </a:r>
            <a:r>
              <a:rPr lang="en-US" dirty="0" err="1"/>
              <a:t>performance.The</a:t>
            </a:r>
            <a:r>
              <a:rPr lang="en-US" dirty="0"/>
              <a:t> branches are then arranged from highest to lowest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Highest </a:t>
            </a:r>
            <a:r>
              <a:rPr lang="en-US" dirty="0"/>
              <a:t>and lowest branches are identified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head(1</a:t>
            </a:r>
            <a:r>
              <a:rPr lang="en-US" dirty="0"/>
              <a:t>) selects the branch with the highest </a:t>
            </a:r>
            <a:r>
              <a:rPr lang="en-US" dirty="0" err="1"/>
              <a:t>sales.tail</a:t>
            </a:r>
            <a:r>
              <a:rPr lang="en-US" dirty="0"/>
              <a:t>(1) selects the branch with the lowest </a:t>
            </a:r>
            <a:r>
              <a:rPr lang="en-US" dirty="0" smtClean="0"/>
              <a:t>sales.</a:t>
            </a:r>
          </a:p>
          <a:p>
            <a:r>
              <a:rPr lang="en-US" dirty="0" smtClean="0"/>
              <a:t>Branch </a:t>
            </a:r>
            <a:r>
              <a:rPr lang="en-US" dirty="0"/>
              <a:t>performance is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clearly identify the branches at both ends of the sales </a:t>
            </a:r>
            <a:r>
              <a:rPr lang="en-US" dirty="0" err="1"/>
              <a:t>range.This</a:t>
            </a:r>
            <a:r>
              <a:rPr lang="en-US" dirty="0"/>
              <a:t> helps management understand differences in branch performance.</a:t>
            </a:r>
          </a:p>
        </p:txBody>
      </p:sp>
    </p:spTree>
    <p:extLst>
      <p:ext uri="{BB962C8B-B14F-4D97-AF65-F5344CB8AC3E}">
        <p14:creationId xmlns:p14="http://schemas.microsoft.com/office/powerpoint/2010/main" val="38687511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419723" cy="565224"/>
          </a:xfrm>
        </p:spPr>
        <p:txBody>
          <a:bodyPr>
            <a:normAutofit/>
          </a:bodyPr>
          <a:lstStyle/>
          <a:p>
            <a:r>
              <a:rPr lang="en-US" sz="2400" dirty="0"/>
              <a:t>Question 25: Determine the Top-Performing Salespersons Based on Total Sales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469052"/>
            <a:ext cx="5157787" cy="440032"/>
          </a:xfrm>
        </p:spPr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9084"/>
            <a:ext cx="6757987" cy="1041990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192926" y="469053"/>
            <a:ext cx="4162462" cy="440032"/>
          </a:xfrm>
        </p:spPr>
        <p:txBody>
          <a:bodyPr/>
          <a:lstStyle/>
          <a:p>
            <a:r>
              <a:rPr lang="en-US" dirty="0" smtClean="0"/>
              <a:t>Explanation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92926" y="1034277"/>
            <a:ext cx="4999074" cy="5573858"/>
          </a:xfrm>
        </p:spPr>
        <p:txBody>
          <a:bodyPr>
            <a:normAutofit fontScale="92500"/>
          </a:bodyPr>
          <a:lstStyle/>
          <a:p>
            <a:r>
              <a:rPr lang="en-US" dirty="0"/>
              <a:t>Salespersons are grouped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code groups transactions according to each </a:t>
            </a:r>
            <a:r>
              <a:rPr lang="en-US" dirty="0" err="1"/>
              <a:t>salesperson.This</a:t>
            </a:r>
            <a:r>
              <a:rPr lang="en-US" dirty="0"/>
              <a:t> allows their total sales to be calculated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Sales </a:t>
            </a:r>
            <a:r>
              <a:rPr lang="en-US" dirty="0"/>
              <a:t>are ranked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sum</a:t>
            </a:r>
            <a:r>
              <a:rPr lang="en-US" dirty="0"/>
              <a:t>() calculates total sales, while </a:t>
            </a:r>
            <a:r>
              <a:rPr lang="en-US" dirty="0" err="1"/>
              <a:t>sort_values</a:t>
            </a:r>
            <a:r>
              <a:rPr lang="en-US" dirty="0"/>
              <a:t>() ranks them from highest to </a:t>
            </a:r>
            <a:r>
              <a:rPr lang="en-US" dirty="0" err="1"/>
              <a:t>lowest.The</a:t>
            </a:r>
            <a:r>
              <a:rPr lang="en-US" dirty="0"/>
              <a:t> salesperson at the top has the highest total sales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Sales </a:t>
            </a:r>
            <a:r>
              <a:rPr lang="en-US" dirty="0"/>
              <a:t>performance is compared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results show differences in sales generated by each </a:t>
            </a:r>
            <a:r>
              <a:rPr lang="en-US" dirty="0" err="1"/>
              <a:t>salesperson.This</a:t>
            </a:r>
            <a:r>
              <a:rPr lang="en-US" dirty="0"/>
              <a:t> helps identify the top-performing salespersons.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0" y="2068033"/>
            <a:ext cx="2849696" cy="478996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975" y="5818754"/>
            <a:ext cx="2629035" cy="96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207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3493</Words>
  <Application>Microsoft Office PowerPoint</Application>
  <PresentationFormat>Widescreen</PresentationFormat>
  <Paragraphs>306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Agency FB</vt:lpstr>
      <vt:lpstr>Arial</vt:lpstr>
      <vt:lpstr>Calibri</vt:lpstr>
      <vt:lpstr>Calibri Light</vt:lpstr>
      <vt:lpstr>Office Theme</vt:lpstr>
      <vt:lpstr>RETAIL SALES AND CUSTOMER ANALYTICS  </vt:lpstr>
      <vt:lpstr>Project Description  </vt:lpstr>
      <vt:lpstr>Project Structure</vt:lpstr>
      <vt:lpstr>Section A: Data Import and Understanding</vt:lpstr>
      <vt:lpstr>QUESTION 1: Import the retail sales dataset into Python and verify that the dataset has been loaded successfully.</vt:lpstr>
      <vt:lpstr>QUESTION 2: Examine the structure, dimensions, variables, and data types of the retail sales dataset.</vt:lpstr>
      <vt:lpstr>QUESTION 2(continuation): Examine the structure, dimensions, variables, and data types of the retail sales dataset.</vt:lpstr>
      <vt:lpstr>QUESTION 2(continuation): Examine the structure, dimensions, variables, and data types of the retail sales dataset. </vt:lpstr>
      <vt:lpstr>QUESTION 3: Explore the dataset to identify the different categories of variables available for analysis.</vt:lpstr>
      <vt:lpstr>QUESTION 4: Produce descriptive summaries to gain an initial understanding of the dataset.</vt:lpstr>
      <vt:lpstr>Section B: Data Cleaning and Validation</vt:lpstr>
      <vt:lpstr>QUESTION 5: Clean and validate the retail sales dataset by identifying and correcting missing values using appropriate Python techniques.</vt:lpstr>
      <vt:lpstr>QUESTION 5(Continuation): Clean and validate the retail sales dataset by identifying and correcting missing values using appropriate Python techniques.</vt:lpstr>
      <vt:lpstr>QUESTION 6: Identify, validate, and remove duplicate transaction records while preserving valid sales information.</vt:lpstr>
      <vt:lpstr>QUESTION 7: Validate customer demographic information by identifying invalid ages and inconsistent customer categories.</vt:lpstr>
      <vt:lpstr>QUESTION 7(Continuation): Validate customer demographic information by identifying invalid ages and inconsistent customer categories.</vt:lpstr>
      <vt:lpstr>QUESTION 8: Standardize product categories, branch names, payment methods, and customer membership information.</vt:lpstr>
      <vt:lpstr>QUESTION 9: Detect and correct inconsistent text formatting including unnecessary spaces, mixed letter cases, and spelling inconsistencies.</vt:lpstr>
      <vt:lpstr>QUESTION 10: Convert variables into appropriate data types suitable for business analysis.</vt:lpstr>
      <vt:lpstr>QUESTION 11: Identify and validate unrealistic numerical values such as negative quantities, incorrect discounts, invalid unit prices, and unrealistic profits.</vt:lpstr>
      <vt:lpstr>QUESTION 11(Continuation): Identify and validate unrealistic numerical values such as negative quantities, incorrect discounts, invalid unit prices, and unrealistic profits.</vt:lpstr>
      <vt:lpstr>QUESTION 11(Continuation): Identify and validate unrealistic numerical values such as negative quantities, incorrect discounts, invalid unit prices, and unrealistic profits.</vt:lpstr>
      <vt:lpstr>QUESTION 12: Detect and appropriately handle outliers in sales, profit, and quantity variables</vt:lpstr>
      <vt:lpstr>QUESTION 13: Produce a cleaned and validated retail sales dataset and export it as a new CSV file</vt:lpstr>
      <vt:lpstr>Question 14: Analyze sales performance across different branches.</vt:lpstr>
      <vt:lpstr>Question 14: Analyze sales performance across different branches.</vt:lpstr>
      <vt:lpstr>Question 14: Analyze sales performance across different branches.</vt:lpstr>
      <vt:lpstr>Question 15: Analyze monthly and quarterly sales trends.</vt:lpstr>
      <vt:lpstr>Question 15: Analyze monthly and quarterly sales trends.</vt:lpstr>
      <vt:lpstr>Question 16: Determine the best-selling products based on quantity sold.</vt:lpstr>
      <vt:lpstr>Question 17: Determine the Most Profitable Product Categories</vt:lpstr>
      <vt:lpstr>Question 18: Analyze Customer Purchasing Behavior Based on Age and Gender</vt:lpstr>
      <vt:lpstr>Question 19: Compare Sales Generated by Different Payment Methods</vt:lpstr>
      <vt:lpstr>Question 20: Analyze Customer Satisfaction Ratings Across Branches</vt:lpstr>
      <vt:lpstr>Question 21: Determine the Impact of Promotional Campaigns on Sales Performance</vt:lpstr>
      <vt:lpstr>Question 22: Analyze the Relationship Between Discounts and Total Sales</vt:lpstr>
      <vt:lpstr>Question 23: Analyze Return Patterns and Common Return Reasons</vt:lpstr>
      <vt:lpstr>Question 23: Analyze Return Patterns and Common Return Reasons</vt:lpstr>
      <vt:lpstr>Question 24: Identify Branches with the Highest and Lowest Sales Performance</vt:lpstr>
      <vt:lpstr>Question 25: Determine the Top-Performing Salespersons Based on Total Sales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SALES AND CUSTOMER ANALYTICS</dc:title>
  <dc:creator>hp</dc:creator>
  <cp:lastModifiedBy>hp</cp:lastModifiedBy>
  <cp:revision>28</cp:revision>
  <dcterms:created xsi:type="dcterms:W3CDTF">2026-09-21T19:23:47Z</dcterms:created>
  <dcterms:modified xsi:type="dcterms:W3CDTF">2026-09-22T20:42:51Z</dcterms:modified>
</cp:coreProperties>
</file>