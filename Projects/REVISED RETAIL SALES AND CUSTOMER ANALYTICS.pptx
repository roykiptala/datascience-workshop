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6" r:id="rId24"/>
    <p:sldId id="278" r:id="rId25"/>
    <p:sldId id="279" r:id="rId26"/>
    <p:sldId id="297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501" autoAdjust="0"/>
  </p:normalViewPr>
  <p:slideViewPr>
    <p:cSldViewPr snapToGrid="0">
      <p:cViewPr varScale="1">
        <p:scale>
          <a:sx n="61" d="100"/>
          <a:sy n="61" d="100"/>
        </p:scale>
        <p:origin x="876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643E5-CC48-4E27-B325-83BCC8DDB35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53350-EB00-4593-AFC7-77AFE71AA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1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53350-EB00-4593-AFC7-77AFE71AAB8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0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2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5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42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8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6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1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0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8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6E4E-18F6-474E-BD33-86DEF353958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6014" y="3187337"/>
            <a:ext cx="9251986" cy="32262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Agency FB" panose="020B0503020202020204" pitchFamily="34" charset="0"/>
              </a:rPr>
              <a:t>RETAIL SALES AND CUSTOMER ANALYTICS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Data Import, Understanding, Cleaning and Validation Using Python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14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Project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Description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project focuses on importing, examining, cleaning, validating and preparing a retail sales dataset for business and customer analytics. The work uses Python data-analysis techniques to understand the structure of the dataset, identify data-quality problems, correct invalid or inconsistent values, and prepare a clean dataset for subsequent analysis.</a:t>
            </a:r>
          </a:p>
          <a:p>
            <a:r>
              <a:rPr lang="en-US" dirty="0"/>
              <a:t>The dataset contains 2,000 retail transaction records. The analysis covers customer information, sales transactions, products, branches, pricing, quantities, discounts, costs and profits, together with other retail and customer-related variables visible in the project data.</a:t>
            </a:r>
          </a:p>
          <a:p>
            <a:r>
              <a:rPr lang="en-US" dirty="0"/>
              <a:t>The workflow begins with loading and examining the raw data, followed by missing-value analysis, duplicate validation, demographic validation, text standardization, data-type conversion, validation of unrealistic numerical values, outlier handling, and preparation of the cleaned dataset.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6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Project Structure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Section A: Data Import and Understanding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Section B: Data Cleaning and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Validation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Section C: Business Data Analysis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95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Section A: Data Import and Understanding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Questions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1-4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90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59" y="104775"/>
            <a:ext cx="10515600" cy="1325563"/>
          </a:xfrm>
        </p:spPr>
        <p:txBody>
          <a:bodyPr>
            <a:normAutofit/>
          </a:bodyPr>
          <a:lstStyle/>
          <a:p>
            <a:r>
              <a:rPr lang="en-US" sz="2200" b="1" dirty="0" smtClean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1: Import the retail sales dataset into Python and verify that the dataset has been loaded successfully.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88815"/>
            <a:ext cx="5157787" cy="2717108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435292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required Python libraries were successfully imported, allowing the dataset to be worked with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working directory was checked successfully, confirming where Python was looking for the dataset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retail sales CSV file was successfully loaded into a </a:t>
            </a:r>
            <a:r>
              <a:rPr lang="en-US" dirty="0" err="1"/>
              <a:t>DataFrame</a:t>
            </a:r>
            <a:r>
              <a:rPr lang="en-US" dirty="0"/>
              <a:t> called </a:t>
            </a:r>
            <a:r>
              <a:rPr lang="en-US" dirty="0" err="1"/>
              <a:t>df</a:t>
            </a:r>
            <a:r>
              <a:rPr lang="en-US" dirty="0"/>
              <a:t>, meaning the dataset was available for analysis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first five records were displayed successfully using </a:t>
            </a:r>
            <a:r>
              <a:rPr lang="en-US" dirty="0" err="1"/>
              <a:t>df.head</a:t>
            </a:r>
            <a:r>
              <a:rPr lang="en-US" dirty="0"/>
              <a:t>(), confirming that the dataset loaded correctly and contains retail sales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7981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2: Examine the structure, dimensions, variables, and data types of the retail sales dataset.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Code;</a:t>
            </a:r>
          </a:p>
          <a:p>
            <a:r>
              <a:rPr lang="en-US" dirty="0" smtClean="0"/>
              <a:t>Structure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45" y="2756084"/>
            <a:ext cx="2869311" cy="1229135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The dataset contains 2,000 rows, representing 2,000 records/transactions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It contains 34 columns, representing 34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The dataset therefore has a fairly broad structure, with many variables available for customer, product, and sales analysis.</a:t>
            </a:r>
          </a:p>
        </p:txBody>
      </p:sp>
    </p:spTree>
    <p:extLst>
      <p:ext uri="{BB962C8B-B14F-4D97-AF65-F5344CB8AC3E}">
        <p14:creationId xmlns:p14="http://schemas.microsoft.com/office/powerpoint/2010/main" val="145496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2(continuation):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Examine the structure, dimensions, variables, and data types of the retail sales dataset.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Code:</a:t>
            </a:r>
          </a:p>
          <a:p>
            <a:r>
              <a:rPr lang="en-US" dirty="0" smtClean="0"/>
              <a:t>Variables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7" y="2591616"/>
            <a:ext cx="5894888" cy="327130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 The output confirms that the dataset has 34 different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The variables cover customer information, such as </a:t>
            </a:r>
            <a:r>
              <a:rPr lang="en-US" dirty="0" err="1"/>
              <a:t>Customer_ID</a:t>
            </a:r>
            <a:r>
              <a:rPr lang="en-US" dirty="0"/>
              <a:t>, Gender, Age and </a:t>
            </a:r>
            <a:r>
              <a:rPr lang="en-US" dirty="0" err="1"/>
              <a:t>Customer_Type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They also cover sales and financial information, including </a:t>
            </a:r>
            <a:r>
              <a:rPr lang="en-US" dirty="0" err="1"/>
              <a:t>Unit_Price</a:t>
            </a:r>
            <a:r>
              <a:rPr lang="en-US" dirty="0"/>
              <a:t>, Quantity, </a:t>
            </a:r>
            <a:r>
              <a:rPr lang="en-US" dirty="0" err="1"/>
              <a:t>Total_Sales</a:t>
            </a:r>
            <a:r>
              <a:rPr lang="en-US" dirty="0"/>
              <a:t>, Cost and Profit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</a:t>
            </a:r>
            <a:r>
              <a:rPr lang="en-US" dirty="0"/>
              <a:t>. There are also product, payment, delivery, returns and customer-feedback variables.</a:t>
            </a:r>
          </a:p>
        </p:txBody>
      </p:sp>
    </p:spTree>
    <p:extLst>
      <p:ext uri="{BB962C8B-B14F-4D97-AF65-F5344CB8AC3E}">
        <p14:creationId xmlns:p14="http://schemas.microsoft.com/office/powerpoint/2010/main" val="57493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2(continuation): Examine the structure, dimensions, variables, and data types of the retail sales dataset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Code</a:t>
            </a:r>
          </a:p>
          <a:p>
            <a:r>
              <a:rPr lang="en-US" dirty="0" smtClean="0"/>
              <a:t>Data types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82" y="2505075"/>
            <a:ext cx="2543218" cy="1028749"/>
          </a:xfrm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586580" y="1130300"/>
            <a:ext cx="4768807" cy="5727699"/>
          </a:xfrm>
        </p:spPr>
        <p:txBody>
          <a:bodyPr>
            <a:normAutofit fontScale="92500"/>
          </a:bodyPr>
          <a:lstStyle/>
          <a:p>
            <a:r>
              <a:rPr lang="en-US" dirty="0"/>
              <a:t>Key findings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Text-based </a:t>
            </a:r>
            <a:r>
              <a:rPr lang="en-US" sz="2200" b="0" dirty="0"/>
              <a:t>variables such as </a:t>
            </a:r>
            <a:r>
              <a:rPr lang="en-US" sz="2200" b="0" dirty="0" err="1"/>
              <a:t>Transaction_ID</a:t>
            </a:r>
            <a:r>
              <a:rPr lang="en-US" sz="2200" b="0" dirty="0"/>
              <a:t>, </a:t>
            </a:r>
            <a:r>
              <a:rPr lang="en-US" sz="2200" b="0" dirty="0" err="1"/>
              <a:t>Customer_ID</a:t>
            </a:r>
            <a:r>
              <a:rPr lang="en-US" sz="2200" b="0" dirty="0"/>
              <a:t>, City and </a:t>
            </a:r>
            <a:r>
              <a:rPr lang="en-US" sz="2200" b="0" dirty="0" err="1"/>
              <a:t>Product_Name</a:t>
            </a:r>
            <a:r>
              <a:rPr lang="en-US" sz="2200" b="0" dirty="0"/>
              <a:t> are stored as strings</a:t>
            </a:r>
            <a:r>
              <a:rPr lang="en-US" sz="2200" b="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Numerical variables such as </a:t>
            </a:r>
            <a:r>
              <a:rPr lang="en-US" sz="2200" b="0" dirty="0" err="1"/>
              <a:t>Customer_Age</a:t>
            </a:r>
            <a:r>
              <a:rPr lang="en-US" sz="2200" b="0" dirty="0"/>
              <a:t>, </a:t>
            </a:r>
            <a:r>
              <a:rPr lang="en-US" sz="2200" b="0" dirty="0" err="1"/>
              <a:t>Unit_Price</a:t>
            </a:r>
            <a:r>
              <a:rPr lang="en-US" sz="2200" b="0" dirty="0"/>
              <a:t>, Quantity, </a:t>
            </a:r>
            <a:r>
              <a:rPr lang="en-US" sz="2200" b="0" dirty="0" err="1"/>
              <a:t>Total_Sales</a:t>
            </a:r>
            <a:r>
              <a:rPr lang="en-US" sz="2200" b="0" dirty="0"/>
              <a:t>, Cost and Profit are stored as float64</a:t>
            </a:r>
            <a:r>
              <a:rPr lang="en-US" sz="2200" b="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Year is stored as an integer (int64</a:t>
            </a:r>
            <a:r>
              <a:rPr lang="en-US" sz="2200" b="0" dirty="0" smtClean="0"/>
              <a:t>).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The dataset also contains categorical/text information stored as object, such as Feedback and some other categorical fields</a:t>
            </a:r>
            <a:r>
              <a:rPr lang="en-US" sz="2200" b="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The output shows that the dataset contains both categorical and numerical data, which allows different types of analysis to be performed..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350" y="2603500"/>
            <a:ext cx="2943225" cy="3952924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05" y="5318125"/>
            <a:ext cx="2497195" cy="123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7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3: Explore the dataset to identify the different categories of variables available for analysis.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04057"/>
            <a:ext cx="4883150" cy="823912"/>
          </a:xfrm>
        </p:spPr>
        <p:txBody>
          <a:bodyPr/>
          <a:lstStyle/>
          <a:p>
            <a:r>
              <a:rPr lang="en-US" dirty="0" smtClean="0"/>
              <a:t>Code                                     output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12" y="1527969"/>
            <a:ext cx="3224212" cy="389661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21550" y="808832"/>
            <a:ext cx="499268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32650" y="1698625"/>
            <a:ext cx="5081588" cy="45976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1. Customer Gender has 4 distinct values: Female, Male, FEMALE, and Male, plus a missing value. This shows inconsistent gender entries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Category has 9 distinct entries, including variations such as groceries and Groceries, as well as home and Home. This indicates inconsistent capitalization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Payment Method has 5 values: Card, Cash, cash, Mobile, and a missing value. The Cash/cash difference shows another data inconsistency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There are 5 branches: Nairobi, </a:t>
            </a:r>
            <a:r>
              <a:rPr lang="en-US" dirty="0" err="1"/>
              <a:t>Eldoret</a:t>
            </a:r>
            <a:r>
              <a:rPr lang="en-US" dirty="0"/>
              <a:t>, </a:t>
            </a:r>
            <a:r>
              <a:rPr lang="en-US" dirty="0" err="1"/>
              <a:t>Nakuru</a:t>
            </a:r>
            <a:r>
              <a:rPr lang="en-US" dirty="0"/>
              <a:t>, Mombasa, and Kisumu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Customer Type has 3 categories: New, Returning, and a missing value. Membership also has inconsistent entries, including Yes/YES and No/no.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031" y="1656456"/>
            <a:ext cx="3945088" cy="37435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450" y="5391197"/>
            <a:ext cx="2400300" cy="14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0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5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4: Produce descriptive summaries to gain an initial understanding of the dataset.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92113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" y="1216026"/>
            <a:ext cx="2600459" cy="617533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5850" y="392113"/>
            <a:ext cx="474503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5850" y="1450962"/>
            <a:ext cx="4756150" cy="49625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. 1. The dataset contains 2,000 transaction records, shown by the count of 2,000 for the numerical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Customer ages vary considerably, with ages ranging from approximately 18 to 70 years in the displayed summary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The average customer age is around the mid-40s, indicating that the dataset represents a broad range of adult customers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</a:t>
            </a:r>
            <a:r>
              <a:rPr lang="en-US" dirty="0"/>
              <a:t>. The output shows variation in the numerical data, including differences between the minimum, maximum, and average values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5</a:t>
            </a:r>
            <a:r>
              <a:rPr lang="en-US" dirty="0"/>
              <a:t>. Some numerical fields contain missing values, shown where the output displays </a:t>
            </a:r>
            <a:r>
              <a:rPr lang="en-US" dirty="0" err="1"/>
              <a:t>NaN</a:t>
            </a:r>
            <a:r>
              <a:rPr lang="en-US" dirty="0"/>
              <a:t>, meaning those records are incomplete.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" y="2012978"/>
            <a:ext cx="5603148" cy="45341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066" y="5908903"/>
            <a:ext cx="3500534" cy="63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7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Section B: Data Cleaning and Validation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Questions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5-13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35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5: Clean and validate the retail sales dataset by identifying and correcting missing values using appropriate Python techniques.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" y="582217"/>
            <a:ext cx="7689552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3"/>
            <a:ext cx="2473176" cy="66278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9552" y="1018376"/>
            <a:ext cx="4451360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89552" y="1842287"/>
            <a:ext cx="4451360" cy="501571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Month and Quarter have the highest missing values, with 2,000 missing records each. This indicates these fields have the largest data gaps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Total </a:t>
            </a:r>
            <a:r>
              <a:rPr lang="en-US" dirty="0"/>
              <a:t>Sales, Cost, and Profit each have 1,137 missing values. This is important because these are key financial fields needed for sales analysis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Quantity </a:t>
            </a:r>
            <a:r>
              <a:rPr lang="en-US" dirty="0"/>
              <a:t>and Stock Level each have 685 missing values, while Unit Price has 662. These missing values can affect calculations involving products and inventory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Several </a:t>
            </a:r>
            <a:r>
              <a:rPr lang="en-US" dirty="0"/>
              <a:t>other fields also contain missing data, including Category (483), Customer Type (648), Payment Method (420), Return Status (663), and Feedback (504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Some </a:t>
            </a:r>
            <a:r>
              <a:rPr lang="en-US" dirty="0"/>
              <a:t>fields have no missing values at all, including Branch, </a:t>
            </a:r>
            <a:r>
              <a:rPr lang="en-US" dirty="0" err="1"/>
              <a:t>Sales_Date</a:t>
            </a:r>
            <a:r>
              <a:rPr lang="en-US" dirty="0"/>
              <a:t>,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Brand, Tax, Salesperson, Membership, Region, and Year.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0" y="1988344"/>
            <a:ext cx="3426599" cy="47436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659" y="6027152"/>
            <a:ext cx="2576358" cy="7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39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5(Continuation):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Clean and validate the retail sales dataset by identifying and correcting missing values using appropriate Python techniques.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11" y="544429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2"/>
            <a:ext cx="3467278" cy="79780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50920" y="1042914"/>
            <a:ext cx="4441079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2902" y="1885247"/>
            <a:ext cx="5159097" cy="484080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 The output now shows only columns that contain missing values; columns with 0 missing values have been excluded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Month and Quarter have the highest number of missing values, with 2,000 missing records each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Total Sales, Cost, and Profit each have 1,137 missing values, indicating substantial gaps in the financial information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Quantity and Stock Level each have 685 missing values, while Delivery Method has 675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Customer information also has missing records, including Customer Type (648), Customer Gender (412), and Customer Satisfaction (335).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7" y="2123370"/>
            <a:ext cx="4243903" cy="460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0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6: Identify, validate, and remove duplicate transaction records while preserving valid sales information.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01066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09163"/>
            <a:ext cx="3436671" cy="117085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7278" y="501651"/>
            <a:ext cx="4492274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1384" y="1424977"/>
            <a:ext cx="4285719" cy="5374721"/>
          </a:xfrm>
        </p:spPr>
        <p:txBody>
          <a:bodyPr>
            <a:normAutofit fontScale="92500"/>
          </a:bodyPr>
          <a:lstStyle/>
          <a:p>
            <a:pPr marL="514350" indent="-514350">
              <a:buAutoNum type="arabicPeriod"/>
            </a:pPr>
            <a:r>
              <a:rPr lang="en-US" dirty="0"/>
              <a:t>There are 0 duplicate transaction records in the dataset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No </a:t>
            </a:r>
            <a:r>
              <a:rPr lang="en-US" dirty="0"/>
              <a:t>duplicate transactions were found, so there are no repeated records affecting the sales data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All </a:t>
            </a:r>
            <a:r>
              <a:rPr lang="en-US" dirty="0"/>
              <a:t>transaction records are unique, meaning the existing sales information can be retained without removing any duplicate records.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4350"/>
            <a:ext cx="7861385" cy="189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7: Validate customer demographic information by identifying invalid ages and inconsistent customer categories.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60626"/>
            <a:ext cx="5157787" cy="657001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3" y="1443752"/>
            <a:ext cx="2658849" cy="2333745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52139" y="760626"/>
            <a:ext cx="3662874" cy="823912"/>
          </a:xfrm>
        </p:spPr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83023" y="1561205"/>
            <a:ext cx="3831989" cy="517098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Check customer </a:t>
            </a:r>
            <a:r>
              <a:rPr lang="en-US" dirty="0" smtClean="0"/>
              <a:t>ages</a:t>
            </a:r>
          </a:p>
          <a:p>
            <a:pPr lvl="1"/>
            <a:r>
              <a:rPr lang="en-US" dirty="0" smtClean="0"/>
              <a:t>describe</a:t>
            </a:r>
            <a:r>
              <a:rPr lang="en-US" dirty="0"/>
              <a:t>() summarizes the </a:t>
            </a:r>
            <a:r>
              <a:rPr lang="en-US" dirty="0" err="1"/>
              <a:t>Customer_Age</a:t>
            </a:r>
            <a:r>
              <a:rPr lang="en-US" dirty="0"/>
              <a:t> column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shows the minimum age is -5 and the maximum is 150</a:t>
            </a:r>
            <a:r>
              <a:rPr lang="en-US" dirty="0" smtClean="0"/>
              <a:t>.</a:t>
            </a:r>
          </a:p>
          <a:p>
            <a:r>
              <a:rPr lang="en-US" dirty="0" smtClean="0"/>
              <a:t>Identify </a:t>
            </a:r>
            <a:r>
              <a:rPr lang="en-US" dirty="0"/>
              <a:t>invalid </a:t>
            </a:r>
            <a:r>
              <a:rPr lang="en-US" dirty="0" smtClean="0"/>
              <a:t>ages</a:t>
            </a:r>
          </a:p>
          <a:p>
            <a:pPr lvl="1"/>
            <a:r>
              <a:rPr lang="en-US" dirty="0" smtClean="0"/>
              <a:t>Ages </a:t>
            </a:r>
            <a:r>
              <a:rPr lang="en-US" dirty="0"/>
              <a:t>below 0 or above 100 are considered invalid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 </a:t>
            </a:r>
            <a:r>
              <a:rPr lang="en-US" dirty="0"/>
              <a:t>in the data include -5 and 150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Display </a:t>
            </a:r>
            <a:r>
              <a:rPr lang="en-US" dirty="0"/>
              <a:t>invalid </a:t>
            </a:r>
            <a:r>
              <a:rPr lang="en-US" dirty="0" smtClean="0"/>
              <a:t>records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filtering condition identifies customers whose ages are outside the valid range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helps us locate the records that need to be corrected or handled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Purpose</a:t>
            </a:r>
          </a:p>
          <a:p>
            <a:pPr lvl="1"/>
            <a:r>
              <a:rPr lang="en-US" dirty="0" smtClean="0"/>
              <a:t>Validating </a:t>
            </a:r>
            <a:r>
              <a:rPr lang="en-US" dirty="0"/>
              <a:t>ages improves the accuracy and reliability of customer demographic analysis.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652" y="974691"/>
            <a:ext cx="3114835" cy="8858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995" y="1860562"/>
            <a:ext cx="5566933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15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7(Continuation):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Validate customer demographic information by identifying invalid ages and inconsistent customer categories.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42" y="742216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5" y="1510567"/>
            <a:ext cx="3659536" cy="3270087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85224" y="742216"/>
            <a:ext cx="4606776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2730" y="1627495"/>
            <a:ext cx="4529096" cy="515379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The analysis checks for invalid customer ages below 0 or above 100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output does not show any invalid age values, so there are no ages outside the expected 0–100 range in the displayed result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However</a:t>
            </a:r>
            <a:r>
              <a:rPr lang="en-US" dirty="0"/>
              <a:t>, there are 780 missing age values (</a:t>
            </a:r>
            <a:r>
              <a:rPr lang="en-US" dirty="0" err="1"/>
              <a:t>NaN</a:t>
            </a:r>
            <a:r>
              <a:rPr lang="en-US" dirty="0" smtClean="0"/>
              <a:t>).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most common recorded ages include</a:t>
            </a:r>
            <a:r>
              <a:rPr lang="en-US" dirty="0" smtClean="0"/>
              <a:t>: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45 </a:t>
            </a:r>
            <a:r>
              <a:rPr lang="en-US" dirty="0"/>
              <a:t>years — 261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25 </a:t>
            </a:r>
            <a:r>
              <a:rPr lang="en-US" dirty="0"/>
              <a:t>years — 259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60 </a:t>
            </a:r>
            <a:r>
              <a:rPr lang="en-US" dirty="0"/>
              <a:t>years — 238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18 </a:t>
            </a:r>
            <a:r>
              <a:rPr lang="en-US" dirty="0"/>
              <a:t>years — 232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34 </a:t>
            </a:r>
            <a:r>
              <a:rPr lang="en-US" dirty="0"/>
              <a:t>years — 230 customers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65" y="1682650"/>
            <a:ext cx="3940866" cy="8273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201" y="2671723"/>
            <a:ext cx="3474383" cy="151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72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686" y="-5254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8: Standardize product categories, branch names, payment methods, and customer membership information.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79451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7" y="1503363"/>
            <a:ext cx="3840160" cy="511836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93878" y="679451"/>
            <a:ext cx="4328623" cy="823912"/>
          </a:xfrm>
        </p:spPr>
        <p:txBody>
          <a:bodyPr/>
          <a:lstStyle/>
          <a:p>
            <a:r>
              <a:rPr lang="en-US" dirty="0" smtClean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1384" y="1522988"/>
            <a:ext cx="4261117" cy="5282848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The dataset contains inconsistent formatting in the categorical columns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Category:</a:t>
            </a:r>
          </a:p>
          <a:p>
            <a:pPr lvl="1"/>
            <a:r>
              <a:rPr lang="en-US" dirty="0" smtClean="0"/>
              <a:t>Clothing </a:t>
            </a:r>
            <a:r>
              <a:rPr lang="en-US" dirty="0"/>
              <a:t>= </a:t>
            </a:r>
            <a:r>
              <a:rPr lang="en-US" dirty="0" smtClean="0"/>
              <a:t>243</a:t>
            </a:r>
          </a:p>
          <a:p>
            <a:pPr lvl="1"/>
            <a:r>
              <a:rPr lang="en-US" dirty="0" smtClean="0"/>
              <a:t>clothing </a:t>
            </a:r>
            <a:r>
              <a:rPr lang="en-US" dirty="0"/>
              <a:t>= </a:t>
            </a:r>
            <a:r>
              <a:rPr lang="en-US" dirty="0" smtClean="0"/>
              <a:t>137</a:t>
            </a:r>
          </a:p>
          <a:p>
            <a:pPr lvl="1"/>
            <a:r>
              <a:rPr lang="en-US" dirty="0" smtClean="0"/>
              <a:t>Home </a:t>
            </a:r>
            <a:r>
              <a:rPr lang="en-US" dirty="0"/>
              <a:t>= </a:t>
            </a:r>
            <a:r>
              <a:rPr lang="en-US" dirty="0" smtClean="0"/>
              <a:t>242</a:t>
            </a:r>
          </a:p>
          <a:p>
            <a:pPr lvl="1"/>
            <a:r>
              <a:rPr lang="en-US" dirty="0" smtClean="0"/>
              <a:t>home </a:t>
            </a:r>
            <a:r>
              <a:rPr lang="en-US" dirty="0"/>
              <a:t>= </a:t>
            </a:r>
            <a:r>
              <a:rPr lang="en-US" dirty="0" smtClean="0"/>
              <a:t>133</a:t>
            </a:r>
          </a:p>
          <a:p>
            <a:pPr lvl="1"/>
            <a:r>
              <a:rPr lang="en-US" dirty="0" smtClean="0"/>
              <a:t>Groceries </a:t>
            </a:r>
            <a:r>
              <a:rPr lang="en-US" dirty="0"/>
              <a:t>= </a:t>
            </a:r>
            <a:r>
              <a:rPr lang="en-US" dirty="0" smtClean="0"/>
              <a:t>253</a:t>
            </a:r>
          </a:p>
          <a:p>
            <a:pPr lvl="1"/>
            <a:r>
              <a:rPr lang="en-US" dirty="0" smtClean="0"/>
              <a:t>groceries </a:t>
            </a:r>
            <a:r>
              <a:rPr lang="en-US" dirty="0"/>
              <a:t>= </a:t>
            </a:r>
            <a:r>
              <a:rPr lang="en-US" dirty="0" smtClean="0"/>
              <a:t>127</a:t>
            </a:r>
          </a:p>
          <a:p>
            <a:pPr lvl="1"/>
            <a:r>
              <a:rPr lang="en-US" dirty="0" smtClean="0"/>
              <a:t>Electronics </a:t>
            </a:r>
            <a:r>
              <a:rPr lang="en-US" dirty="0"/>
              <a:t>= </a:t>
            </a:r>
            <a:r>
              <a:rPr lang="en-US" dirty="0" smtClean="0"/>
              <a:t>257</a:t>
            </a:r>
          </a:p>
          <a:p>
            <a:pPr lvl="1"/>
            <a:r>
              <a:rPr lang="en-US" dirty="0" smtClean="0"/>
              <a:t>electronics </a:t>
            </a:r>
            <a:r>
              <a:rPr lang="en-US" dirty="0"/>
              <a:t>= </a:t>
            </a:r>
            <a:r>
              <a:rPr lang="en-US" dirty="0" smtClean="0"/>
              <a:t>125</a:t>
            </a:r>
          </a:p>
          <a:p>
            <a:r>
              <a:rPr lang="en-US" dirty="0" smtClean="0"/>
              <a:t>This </a:t>
            </a:r>
            <a:r>
              <a:rPr lang="en-US" dirty="0"/>
              <a:t>shows that the same categories were being treated as separate values because of capitalization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Payment </a:t>
            </a:r>
            <a:r>
              <a:rPr lang="en-US" dirty="0"/>
              <a:t>Method also has inconsistent capitalization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Cash </a:t>
            </a:r>
            <a:r>
              <a:rPr lang="en-US" dirty="0"/>
              <a:t>= </a:t>
            </a:r>
            <a:r>
              <a:rPr lang="en-US" dirty="0" smtClean="0"/>
              <a:t>435</a:t>
            </a:r>
          </a:p>
          <a:p>
            <a:pPr lvl="1"/>
            <a:r>
              <a:rPr lang="en-US" dirty="0" smtClean="0"/>
              <a:t>cash </a:t>
            </a:r>
            <a:r>
              <a:rPr lang="en-US" dirty="0"/>
              <a:t>= </a:t>
            </a:r>
            <a:r>
              <a:rPr lang="en-US" dirty="0" smtClean="0"/>
              <a:t>379</a:t>
            </a:r>
          </a:p>
          <a:p>
            <a:r>
              <a:rPr lang="en-US" dirty="0" smtClean="0"/>
              <a:t>Membership </a:t>
            </a:r>
            <a:r>
              <a:rPr lang="en-US" dirty="0"/>
              <a:t>has similar inconsistencies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Yes </a:t>
            </a:r>
            <a:r>
              <a:rPr lang="en-US" dirty="0"/>
              <a:t>= </a:t>
            </a:r>
            <a:r>
              <a:rPr lang="en-US" dirty="0" smtClean="0"/>
              <a:t>510</a:t>
            </a:r>
          </a:p>
          <a:p>
            <a:pPr lvl="1"/>
            <a:r>
              <a:rPr lang="en-US" dirty="0" smtClean="0"/>
              <a:t>YES </a:t>
            </a:r>
            <a:r>
              <a:rPr lang="en-US" dirty="0"/>
              <a:t>= </a:t>
            </a:r>
            <a:r>
              <a:rPr lang="en-US" dirty="0" smtClean="0"/>
              <a:t>473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= </a:t>
            </a:r>
            <a:r>
              <a:rPr lang="en-US" dirty="0" smtClean="0"/>
              <a:t>513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= </a:t>
            </a:r>
            <a:r>
              <a:rPr lang="en-US" dirty="0" smtClean="0"/>
              <a:t>504</a:t>
            </a:r>
          </a:p>
          <a:p>
            <a:r>
              <a:rPr lang="en-US" dirty="0" smtClean="0"/>
              <a:t>Branch </a:t>
            </a:r>
            <a:r>
              <a:rPr lang="en-US" dirty="0"/>
              <a:t>names appear consistently formatted in the output.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4" y="1503363"/>
            <a:ext cx="2343270" cy="42102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748" y="5681828"/>
            <a:ext cx="1971776" cy="112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46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9: Detect and correct inconsistent text formatting including unnecessary spaces, mixed letter cases, and spelling inconsistencies.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05388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15" y="1584902"/>
            <a:ext cx="4628767" cy="204814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73659" y="705388"/>
            <a:ext cx="421815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73658" y="1529300"/>
            <a:ext cx="4283161" cy="53287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dataset had inconsistent capitalization for gender values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male </a:t>
            </a:r>
            <a:r>
              <a:rPr lang="en-US" dirty="0"/>
              <a:t>and Male represent the same category but were stored differently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Female </a:t>
            </a:r>
            <a:r>
              <a:rPr lang="en-US" dirty="0"/>
              <a:t>and FEMALE also represent the same category but had different capitalization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Missing </a:t>
            </a:r>
            <a:r>
              <a:rPr lang="en-US" dirty="0"/>
              <a:t>values (</a:t>
            </a:r>
            <a:r>
              <a:rPr lang="en-US" dirty="0" err="1"/>
              <a:t>NaN</a:t>
            </a:r>
            <a:r>
              <a:rPr lang="en-US" dirty="0"/>
              <a:t>) were also present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After </a:t>
            </a:r>
            <a:r>
              <a:rPr lang="en-US" dirty="0"/>
              <a:t>standardizing the text using .</a:t>
            </a:r>
            <a:r>
              <a:rPr lang="en-US" dirty="0" err="1"/>
              <a:t>str.title</a:t>
            </a:r>
            <a:r>
              <a:rPr lang="en-US" dirty="0"/>
              <a:t>(), values such as male → Male and FEMALE → Female become consistent.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91" y="3688653"/>
            <a:ext cx="5486682" cy="113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00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6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10: Convert variables into appropriate data types suitable for business analysis.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48352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5157"/>
            <a:ext cx="5983490" cy="361464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01826" y="748352"/>
            <a:ext cx="4490174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32193" y="1604162"/>
            <a:ext cx="5459807" cy="5253837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Sales_Date</a:t>
            </a:r>
            <a:r>
              <a:rPr lang="en-US" dirty="0"/>
              <a:t> was converted to a </a:t>
            </a:r>
            <a:r>
              <a:rPr lang="en-US" dirty="0" err="1"/>
              <a:t>datetime</a:t>
            </a:r>
            <a:r>
              <a:rPr lang="en-US" dirty="0"/>
              <a:t> data 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allows the sales data to be analyzed by day, month, quarter, or year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Customer_Age</a:t>
            </a:r>
            <a:r>
              <a:rPr lang="en-US" dirty="0" smtClean="0"/>
              <a:t> </a:t>
            </a:r>
            <a:r>
              <a:rPr lang="en-US" dirty="0"/>
              <a:t>was converted to a numeric data 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allows us to perform calculations such as average age, minimum age, maximum age, and comparisons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Invalid </a:t>
            </a:r>
            <a:r>
              <a:rPr lang="en-US" dirty="0"/>
              <a:t>values that could not be converted were changed to missing values (</a:t>
            </a:r>
            <a:r>
              <a:rPr lang="en-US" dirty="0" err="1"/>
              <a:t>NaN</a:t>
            </a:r>
            <a:r>
              <a:rPr lang="en-US" dirty="0"/>
              <a:t>) because errors="coerce" was used.</a:t>
            </a:r>
          </a:p>
        </p:txBody>
      </p:sp>
    </p:spTree>
    <p:extLst>
      <p:ext uri="{BB962C8B-B14F-4D97-AF65-F5344CB8AC3E}">
        <p14:creationId xmlns:p14="http://schemas.microsoft.com/office/powerpoint/2010/main" val="1620152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11: Identify and validate unrealistic numerical values such as negative quantities, incorrect discounts, invalid unit prices, and unrealistic profits.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4213" y="908263"/>
            <a:ext cx="5115797" cy="576870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133"/>
            <a:ext cx="3025498" cy="85303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01826" y="741002"/>
            <a:ext cx="4490174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00016" y="1633632"/>
            <a:ext cx="4381810" cy="50924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Negative quantities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Several </a:t>
            </a:r>
            <a:r>
              <a:rPr lang="en-US" dirty="0"/>
              <a:t>transactions contain quantities below zero</a:t>
            </a:r>
            <a:r>
              <a:rPr lang="en-US" dirty="0" smtClean="0"/>
              <a:t>.</a:t>
            </a:r>
          </a:p>
          <a:p>
            <a:r>
              <a:rPr lang="en-US" dirty="0" smtClean="0"/>
              <a:t>Negative </a:t>
            </a:r>
            <a:r>
              <a:rPr lang="en-US" dirty="0"/>
              <a:t>quantities are unrealistic for normal sales transactions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These </a:t>
            </a:r>
            <a:r>
              <a:rPr lang="en-US" dirty="0"/>
              <a:t>values may indicate data-entry or data-quality errors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investigated and validated before further analysis.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13" y="2393396"/>
            <a:ext cx="7716039" cy="440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26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26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11(Continuation):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Identify and validate unrealistic numerical values such as negative quantities, incorrect discounts, invalid unit prices, and unrealistic profits</a:t>
            </a:r>
            <a:r>
              <a:rPr lang="en-US" sz="2400" b="1" dirty="0"/>
              <a:t>.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26" y="766763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8" y="1933128"/>
            <a:ext cx="7022620" cy="487270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14807" y="766763"/>
            <a:ext cx="4136333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85090" y="1606622"/>
            <a:ext cx="4166049" cy="52673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Negative unit prices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Several </a:t>
            </a:r>
            <a:r>
              <a:rPr lang="en-US" dirty="0"/>
              <a:t>transactions contain unit prices below zero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negative unit price is unrealistic for a normal sales transaction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These </a:t>
            </a:r>
            <a:r>
              <a:rPr lang="en-US" dirty="0"/>
              <a:t>values may indicate data-entry or data-quality errors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investigated and validated before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980324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5233"/>
            <a:ext cx="11355388" cy="95122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11(Continuation): Identify and validate unrealistic numerical values such as negative quantities, incorrect discounts, invalid unit prices, and unrealistic profits.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75061"/>
            <a:ext cx="4185374" cy="748704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3" y="1626282"/>
            <a:ext cx="7094537" cy="5161144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28183" y="637457"/>
            <a:ext cx="4563817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28183" y="1588678"/>
            <a:ext cx="4572052" cy="51987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Invalid discount values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discount range includes a value of 110</a:t>
            </a:r>
            <a:r>
              <a:rPr lang="en-US" dirty="0" smtClean="0"/>
              <a:t>%.</a:t>
            </a:r>
          </a:p>
          <a:p>
            <a:r>
              <a:rPr lang="en-US" dirty="0" smtClean="0"/>
              <a:t>A </a:t>
            </a:r>
            <a:r>
              <a:rPr lang="en-US" dirty="0"/>
              <a:t>discount above 100% is unrealistic for a normal sales transaction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</a:t>
            </a:r>
            <a:r>
              <a:rPr lang="en-US" dirty="0"/>
              <a:t>indicates a potential data-quality or data-entry error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investigated and validated before further </a:t>
            </a:r>
            <a:r>
              <a:rPr lang="en-US" dirty="0" err="1"/>
              <a:t>analysis.sales</a:t>
            </a:r>
            <a:r>
              <a:rPr lang="en-US" dirty="0"/>
              <a:t> calculations.</a:t>
            </a:r>
          </a:p>
        </p:txBody>
      </p:sp>
    </p:spTree>
    <p:extLst>
      <p:ext uri="{BB962C8B-B14F-4D97-AF65-F5344CB8AC3E}">
        <p14:creationId xmlns:p14="http://schemas.microsoft.com/office/powerpoint/2010/main" val="3686981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11(Continuation): Identify and validate unrealistic numerical values such as negative quantities, incorrect discounts, invalid unit prices, and unrealistic profits.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02" y="1358537"/>
            <a:ext cx="5934873" cy="433687"/>
          </a:xfrm>
        </p:spPr>
        <p:txBody>
          <a:bodyPr>
            <a:normAutofit/>
          </a:bodyPr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2" y="1738847"/>
            <a:ext cx="2867172" cy="733463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9440" y="1358537"/>
            <a:ext cx="4405948" cy="433687"/>
          </a:xfrm>
        </p:spPr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9440" y="1914634"/>
            <a:ext cx="5183188" cy="36845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Extreme profit values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Some </a:t>
            </a:r>
            <a:r>
              <a:rPr lang="en-US" dirty="0"/>
              <a:t>transactions recorded profits below −100, representing substantial losses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Other </a:t>
            </a:r>
            <a:r>
              <a:rPr lang="en-US" dirty="0"/>
              <a:t>transactions recorded profits above 100, representing unusually high profits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analysis identified 297 transactions within these extreme ranges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These </a:t>
            </a:r>
            <a:r>
              <a:rPr lang="en-US" dirty="0"/>
              <a:t>values may represent genuine unusual transactions or potential outliers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validated before further analysis.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2" y="2594720"/>
            <a:ext cx="6886738" cy="42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5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781"/>
            <a:ext cx="11355388" cy="84075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12: Detect and appropriately handle outliers in sales, profit, and quantity variables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64245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6" y="1405000"/>
            <a:ext cx="6217899" cy="2576893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03633" y="564244"/>
            <a:ext cx="4457499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3635" y="1388155"/>
            <a:ext cx="4457498" cy="54698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Total Sales: The acceptable range is approximately -280 to 200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→ </a:t>
            </a:r>
            <a:r>
              <a:rPr lang="en-US" dirty="0"/>
              <a:t>Values above 200 are considered potential outliers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Profit</a:t>
            </a:r>
            <a:r>
              <a:rPr lang="en-US" dirty="0"/>
              <a:t>: The acceptable range is approximately -98.5 to 73.58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→ </a:t>
            </a:r>
            <a:r>
              <a:rPr lang="en-US" dirty="0"/>
              <a:t>Profits above 73.58 or below -98.5 may be outliers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Quantity</a:t>
            </a:r>
            <a:r>
              <a:rPr lang="en-US" dirty="0"/>
              <a:t>: The acceptable range is approximately -4.5 to 15.5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→ </a:t>
            </a:r>
            <a:r>
              <a:rPr lang="en-US" dirty="0"/>
              <a:t>Quantities above 15.5 may be considered outliers. Since quantity normally cannot be negative, the negative lower boundary is mainly a mathematical result of the IQR method.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6" y="3998735"/>
            <a:ext cx="3240783" cy="18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73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8009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13: Produce a cleaned and validated retail sales dataset and export it as a new CSV file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899858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2" y="1999376"/>
            <a:ext cx="6033371" cy="468372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09063" y="899858"/>
            <a:ext cx="4829750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62878" y="1830014"/>
            <a:ext cx="5359623" cy="50279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The cleaned dataset still contains 2,000 records and 34 variables, so the cleaning process did not remove the dataset's overall structure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The cleaned dataset was successfully exported as a new CSV file named cleaned_retail_sales.csv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No extra index column was added to the exported file, keeping the dataset structure clean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The cleaned file is ready for reuse, such as opening, sharing, or using it for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2383494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Section C: Business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Questions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14-25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247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57946" cy="83465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14: Analyze sales performance across different branches.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54112"/>
            <a:ext cx="7006856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6" y="1932135"/>
            <a:ext cx="6839301" cy="332651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585" y="554112"/>
            <a:ext cx="4685415" cy="823912"/>
          </a:xfrm>
        </p:spPr>
        <p:txBody>
          <a:bodyPr/>
          <a:lstStyle/>
          <a:p>
            <a:r>
              <a:rPr lang="en-US" dirty="0"/>
              <a:t>Key </a:t>
            </a:r>
            <a:r>
              <a:rPr lang="en-US" dirty="0" smtClean="0"/>
              <a:t>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06586" y="1388767"/>
            <a:ext cx="4653332" cy="5341641"/>
          </a:xfrm>
        </p:spPr>
        <p:txBody>
          <a:bodyPr>
            <a:normAutofit/>
          </a:bodyPr>
          <a:lstStyle/>
          <a:p>
            <a:r>
              <a:rPr lang="en-US" dirty="0" err="1"/>
              <a:t>Eldoret</a:t>
            </a:r>
            <a:r>
              <a:rPr lang="en-US" dirty="0"/>
              <a:t> recorded the highest total sales at 44,258.69.</a:t>
            </a:r>
          </a:p>
          <a:p>
            <a:r>
              <a:rPr lang="en-US" dirty="0" err="1"/>
              <a:t>Nakuru</a:t>
            </a:r>
            <a:r>
              <a:rPr lang="en-US" dirty="0"/>
              <a:t> ranked second with 30,110.31 in total sales.</a:t>
            </a:r>
          </a:p>
          <a:p>
            <a:r>
              <a:rPr lang="en-US" dirty="0"/>
              <a:t>Nairobi followed with 28,595.52.</a:t>
            </a:r>
          </a:p>
          <a:p>
            <a:r>
              <a:rPr lang="en-US" dirty="0"/>
              <a:t>Mombasa recorded 26,328.07.</a:t>
            </a:r>
          </a:p>
          <a:p>
            <a:r>
              <a:rPr lang="en-US" dirty="0"/>
              <a:t>Kisumu had the lowest total sales at 22,674.85.</a:t>
            </a:r>
          </a:p>
        </p:txBody>
      </p:sp>
    </p:spTree>
    <p:extLst>
      <p:ext uri="{BB962C8B-B14F-4D97-AF65-F5344CB8AC3E}">
        <p14:creationId xmlns:p14="http://schemas.microsoft.com/office/powerpoint/2010/main" val="4287859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14: Analyze sales performance across different branches</a:t>
            </a:r>
            <a:r>
              <a:rPr lang="en-US" sz="2400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95" y="1253369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80" y="2188335"/>
            <a:ext cx="5213517" cy="3266167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64423"/>
            <a:ext cx="518318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54102"/>
            <a:ext cx="5183188" cy="4603897"/>
          </a:xfrm>
        </p:spPr>
        <p:txBody>
          <a:bodyPr>
            <a:normAutofit/>
          </a:bodyPr>
          <a:lstStyle/>
          <a:p>
            <a:r>
              <a:rPr lang="en-US" dirty="0" err="1"/>
              <a:t>Eldoret</a:t>
            </a:r>
            <a:r>
              <a:rPr lang="en-US" dirty="0"/>
              <a:t> recorded the highest total sales at 44,258.69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ranked second with 30,110.31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Nairobi </a:t>
            </a:r>
            <a:r>
              <a:rPr lang="en-US" dirty="0"/>
              <a:t>followed with 28,595.52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Mombasa </a:t>
            </a:r>
            <a:r>
              <a:rPr lang="en-US" dirty="0"/>
              <a:t>recorded 26,328.07</a:t>
            </a:r>
            <a:r>
              <a:rPr lang="en-US" dirty="0" smtClean="0"/>
              <a:t>.</a:t>
            </a:r>
          </a:p>
          <a:p>
            <a:r>
              <a:rPr lang="en-US" dirty="0" smtClean="0"/>
              <a:t>Kisumu </a:t>
            </a:r>
            <a:r>
              <a:rPr lang="en-US" dirty="0"/>
              <a:t>had the lowest total sales at 22,674.85.</a:t>
            </a:r>
          </a:p>
        </p:txBody>
      </p:sp>
    </p:spTree>
    <p:extLst>
      <p:ext uri="{BB962C8B-B14F-4D97-AF65-F5344CB8AC3E}">
        <p14:creationId xmlns:p14="http://schemas.microsoft.com/office/powerpoint/2010/main" val="2514584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339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14: Analyze sales performance across different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branches.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18917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3716"/>
            <a:ext cx="5257800" cy="420938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5363" y="208000"/>
            <a:ext cx="518318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56067" y="961426"/>
            <a:ext cx="5183188" cy="5779615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Eldoret</a:t>
            </a:r>
            <a:r>
              <a:rPr lang="en-US" dirty="0"/>
              <a:t> generated the highest total sales at 44,258.69 and also recorded the highest average sales (250.05) and highest profit (12,790.23</a:t>
            </a:r>
            <a:r>
              <a:rPr lang="en-US" dirty="0" smtClean="0"/>
              <a:t>).</a:t>
            </a:r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ranked second in total sales (30,110.31) and generated 9,815.14 in profit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Nairobi </a:t>
            </a:r>
            <a:r>
              <a:rPr lang="en-US" dirty="0"/>
              <a:t>had 28,955.52 in total sales and 7,418.61 in profit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Mombasa </a:t>
            </a:r>
            <a:r>
              <a:rPr lang="en-US" dirty="0"/>
              <a:t>recorded 26,328.07 in sales and had the highest quantity sold among the first four branches (751</a:t>
            </a:r>
            <a:r>
              <a:rPr lang="en-US" dirty="0" smtClean="0"/>
              <a:t>).</a:t>
            </a:r>
          </a:p>
          <a:p>
            <a:r>
              <a:rPr lang="en-US" dirty="0" smtClean="0"/>
              <a:t>Kisumu </a:t>
            </a:r>
            <a:r>
              <a:rPr lang="en-US" dirty="0"/>
              <a:t>had the lowest total sales (22,674.85) and lowest profit (6,182.27), although it recorded the highest quantity sold (769</a:t>
            </a:r>
            <a:r>
              <a:rPr lang="en-US" dirty="0" smtClean="0"/>
              <a:t>).</a:t>
            </a:r>
          </a:p>
          <a:p>
            <a:r>
              <a:rPr lang="en-US" dirty="0" smtClean="0"/>
              <a:t>Overall</a:t>
            </a:r>
            <a:r>
              <a:rPr lang="en-US" dirty="0"/>
              <a:t>, </a:t>
            </a:r>
            <a:r>
              <a:rPr lang="en-US" dirty="0" err="1"/>
              <a:t>Eldoret</a:t>
            </a:r>
            <a:r>
              <a:rPr lang="en-US" dirty="0"/>
              <a:t> leads in sales and profitability, while Kisumu sells the most units but generates the lowest total sales and profit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Eldoret</a:t>
            </a:r>
            <a:r>
              <a:rPr lang="en-US" dirty="0" smtClean="0"/>
              <a:t> </a:t>
            </a:r>
            <a:r>
              <a:rPr lang="en-US" dirty="0"/>
              <a:t>— 44,258.692. </a:t>
            </a:r>
            <a:endParaRPr lang="en-US" dirty="0" smtClean="0"/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— 30,110.313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Nairobi — 28,955.524. </a:t>
            </a:r>
            <a:endParaRPr lang="en-US" dirty="0" smtClean="0"/>
          </a:p>
          <a:p>
            <a:r>
              <a:rPr lang="en-US" dirty="0" smtClean="0"/>
              <a:t>Mombasa </a:t>
            </a:r>
            <a:r>
              <a:rPr lang="en-US" dirty="0"/>
              <a:t>— 26,328.075. </a:t>
            </a:r>
            <a:endParaRPr lang="en-US" dirty="0" smtClean="0"/>
          </a:p>
          <a:p>
            <a:r>
              <a:rPr lang="en-US" dirty="0" smtClean="0"/>
              <a:t>Kisumu </a:t>
            </a:r>
            <a:r>
              <a:rPr lang="en-US" dirty="0"/>
              <a:t>— 22,674.85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343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706"/>
            <a:ext cx="10515600" cy="99007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15: Analyze monthly and quarterly sales trends</a:t>
            </a:r>
            <a:r>
              <a:rPr lang="en-US" sz="2400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63617"/>
            <a:ext cx="5125705" cy="476888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0781"/>
            <a:ext cx="5000882" cy="167648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90367" y="139800"/>
            <a:ext cx="4143153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7990367" y="1129871"/>
            <a:ext cx="3886016" cy="558990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June 2025 had the highest monthly sales, with 18,693.92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September </a:t>
            </a:r>
            <a:r>
              <a:rPr lang="en-US" dirty="0"/>
              <a:t>2025 had the lowest monthly sales, with only 497.36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increased strongly from Q1 to Q2 2025, reaching the highest quarterly sales of 43,325.97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dropped significantly in Q3 2025 to 7,512.31, before recovering in Q4 2025 to 23,563.07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2026, Q2 sales (29,390.25) were higher than Q1 sales (16,983.43), showing an improvement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Overall</a:t>
            </a:r>
            <a:r>
              <a:rPr lang="en-US" dirty="0"/>
              <a:t>, the sales pattern shows significant fluctuations, with some months and quarters performing much better than others.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0" y="2757267"/>
            <a:ext cx="3324396" cy="37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92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833"/>
            <a:ext cx="11355388" cy="80445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15: Analyze monthly and quarterly sales trends.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30" y="724233"/>
            <a:ext cx="3939364" cy="530409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96" y="1467293"/>
            <a:ext cx="5619307" cy="389615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4581" y="614640"/>
            <a:ext cx="4986486" cy="593263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84581" y="1254641"/>
            <a:ext cx="5183188" cy="54226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2025 Q2 recorded the highest total sales, at 43,325.97</a:t>
            </a:r>
            <a:r>
              <a:rPr lang="en-US" dirty="0" smtClean="0"/>
              <a:t>.</a:t>
            </a:r>
          </a:p>
          <a:p>
            <a:r>
              <a:rPr lang="en-US" dirty="0" smtClean="0"/>
              <a:t>2025 </a:t>
            </a:r>
            <a:r>
              <a:rPr lang="en-US" dirty="0"/>
              <a:t>Q3 recorded the lowest total sales, at 7,512.31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increased sharply from 26,384.87 in 2025 Q1 to 43,325.97 in Q2, before falling to 7,512.31 in Q3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recovered in 2025 Q4, reaching </a:t>
            </a:r>
            <a:r>
              <a:rPr lang="en-US" dirty="0" smtClean="0"/>
              <a:t>23,563.07</a:t>
            </a:r>
          </a:p>
          <a:p>
            <a:r>
              <a:rPr lang="en-US" dirty="0" smtClean="0"/>
              <a:t>.</a:t>
            </a:r>
            <a:r>
              <a:rPr lang="en-US" dirty="0"/>
              <a:t>In 2026, sales increased from 16,983.43 in Q1 to 29,388.25 in Q2</a:t>
            </a:r>
            <a:r>
              <a:rPr lang="en-US" dirty="0" smtClean="0"/>
              <a:t>.</a:t>
            </a:r>
          </a:p>
          <a:p>
            <a:r>
              <a:rPr lang="en-US" dirty="0" smtClean="0"/>
              <a:t>Overall</a:t>
            </a:r>
            <a:r>
              <a:rPr lang="en-US" dirty="0"/>
              <a:t>, the results show significant fluctuations in quarterly sales, with the strongest performance in 2025 Q2 and the weakest in 2025 Q3.</a:t>
            </a:r>
          </a:p>
        </p:txBody>
      </p:sp>
    </p:spTree>
    <p:extLst>
      <p:ext uri="{BB962C8B-B14F-4D97-AF65-F5344CB8AC3E}">
        <p14:creationId xmlns:p14="http://schemas.microsoft.com/office/powerpoint/2010/main" val="2698251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0" y="10477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16: Determine the best-selling products based on quantity sold</a:t>
            </a:r>
            <a:r>
              <a:rPr lang="en-US" sz="2400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30" y="671069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1584251"/>
            <a:ext cx="6635750" cy="476870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08605" y="887818"/>
            <a:ext cx="4483395" cy="542519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8107" y="1494981"/>
            <a:ext cx="4678326" cy="53098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Milk is the best-selling product, with 285 units sold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Sugar </a:t>
            </a:r>
            <a:r>
              <a:rPr lang="en-US" dirty="0"/>
              <a:t>ranks second, with 267 units sold</a:t>
            </a:r>
            <a:r>
              <a:rPr lang="en-US" dirty="0" smtClean="0"/>
              <a:t>.</a:t>
            </a:r>
          </a:p>
          <a:p>
            <a:r>
              <a:rPr lang="en-US" dirty="0" smtClean="0"/>
              <a:t>Bread </a:t>
            </a:r>
            <a:r>
              <a:rPr lang="en-US" dirty="0"/>
              <a:t>ranks third, with 258 units sold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Table </a:t>
            </a:r>
            <a:r>
              <a:rPr lang="en-US" dirty="0"/>
              <a:t>follows with 235 units, while Shirt has 229 units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Monitor </a:t>
            </a:r>
            <a:r>
              <a:rPr lang="en-US" dirty="0"/>
              <a:t>has the lowest quantity sold among the products shown, with 144 units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a clear difference in the quantities sold across the products, with Milk having the highest demand.</a:t>
            </a:r>
          </a:p>
        </p:txBody>
      </p:sp>
    </p:spTree>
    <p:extLst>
      <p:ext uri="{BB962C8B-B14F-4D97-AF65-F5344CB8AC3E}">
        <p14:creationId xmlns:p14="http://schemas.microsoft.com/office/powerpoint/2010/main" val="2985292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11" y="0"/>
            <a:ext cx="7942705" cy="93939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17: Determine the Most Profitable Product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1" y="426521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1250433"/>
            <a:ext cx="6162675" cy="484733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06316" y="47848"/>
            <a:ext cx="4185684" cy="891546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80005" y="882502"/>
            <a:ext cx="4711995" cy="57681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Groceries has the highest total profit, at 7,197.54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second groceries category generated 6,171.66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Home </a:t>
            </a:r>
            <a:r>
              <a:rPr lang="en-US" dirty="0"/>
              <a:t>generated 5,549.81, while Clothing generated 4,778.26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other category entries recorded profits ranging from 3,158.18 to 3,804.92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that Groceries contributes the highest profit among the categories shown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output contains categories with different capitalization, such as “Groceries” and “groceries”, which are treated as separate categories.</a:t>
            </a:r>
          </a:p>
        </p:txBody>
      </p:sp>
    </p:spTree>
    <p:extLst>
      <p:ext uri="{BB962C8B-B14F-4D97-AF65-F5344CB8AC3E}">
        <p14:creationId xmlns:p14="http://schemas.microsoft.com/office/powerpoint/2010/main" val="4007352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5388" cy="81339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18: Analyze Customer Purchasing Behavior Based on Age and Gender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53902"/>
            <a:ext cx="4827181" cy="473149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1" y="1073889"/>
            <a:ext cx="4377931" cy="138119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93664" y="568843"/>
            <a:ext cx="4398335" cy="505046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76977" y="1127050"/>
            <a:ext cx="5015023" cy="569373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Female customers aged 34 generated the highest total sales, at 16,948.76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Male </a:t>
            </a:r>
            <a:r>
              <a:rPr lang="en-US" dirty="0"/>
              <a:t>customers aged 45 generated the second-highest total sales, at 14,530.10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Female </a:t>
            </a:r>
            <a:r>
              <a:rPr lang="en-US" dirty="0"/>
              <a:t>customers aged 25 generated 11,013.38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Some </a:t>
            </a:r>
            <a:r>
              <a:rPr lang="en-US" dirty="0"/>
              <a:t>customer groups recorded negative total sales, such as male customers aged 34 (-2,375.57) and male customers aged 25 (-2,185.93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that purchasing levels differ across age and gender groups, with the 34-year-old female group contributing the highest sales in the displayed results.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49" y="2455085"/>
            <a:ext cx="4465844" cy="413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2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393141" cy="69813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19: Compare Sales Generated by Different Payment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64744"/>
            <a:ext cx="5088491" cy="461297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" y="1164265"/>
            <a:ext cx="5767277" cy="414138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46581" y="588666"/>
            <a:ext cx="4545419" cy="4134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46580" y="1059046"/>
            <a:ext cx="4545419" cy="56873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Cash generated the highest total sales: 49,298.28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Cash </a:t>
            </a:r>
            <a:r>
              <a:rPr lang="en-US" dirty="0"/>
              <a:t>was followed by cash with 29,896.92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Mobile </a:t>
            </a:r>
            <a:r>
              <a:rPr lang="en-US" dirty="0"/>
              <a:t>generated 23,965.99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Card </a:t>
            </a:r>
            <a:r>
              <a:rPr lang="en-US" dirty="0"/>
              <a:t>generated the lowest total sales: 23,868.69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between the highest and lowest payment methods is 25,429.59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a clear difference in total sales generated across the payment methods.</a:t>
            </a:r>
          </a:p>
        </p:txBody>
      </p:sp>
    </p:spTree>
    <p:extLst>
      <p:ext uri="{BB962C8B-B14F-4D97-AF65-F5344CB8AC3E}">
        <p14:creationId xmlns:p14="http://schemas.microsoft.com/office/powerpoint/2010/main" val="1267542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5388" cy="65028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20: Analyze Customer Satisfaction Ratings Across Branches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27530"/>
            <a:ext cx="5157787" cy="445349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2474"/>
            <a:ext cx="6464300" cy="418391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30879" y="527530"/>
            <a:ext cx="4295369" cy="477246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30878" y="972878"/>
            <a:ext cx="4361121" cy="576284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Eldoret</a:t>
            </a:r>
            <a:r>
              <a:rPr lang="en-US" dirty="0"/>
              <a:t> has the highest average customer rating: 3.1625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Nairobi </a:t>
            </a:r>
            <a:r>
              <a:rPr lang="en-US" dirty="0"/>
              <a:t>ranks second: 3.0876</a:t>
            </a:r>
            <a:r>
              <a:rPr lang="en-US" dirty="0" smtClean="0"/>
              <a:t>.</a:t>
            </a:r>
          </a:p>
          <a:p>
            <a:r>
              <a:rPr lang="en-US" dirty="0" smtClean="0"/>
              <a:t>Kisumu </a:t>
            </a:r>
            <a:r>
              <a:rPr lang="en-US" dirty="0"/>
              <a:t>ranks third: 3.0395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Mombasa </a:t>
            </a:r>
            <a:r>
              <a:rPr lang="en-US" dirty="0"/>
              <a:t>ranks fourth: 2.8780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has the lowest average customer rating: 2.8393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that customer satisfaction varies across the branches, with </a:t>
            </a:r>
            <a:r>
              <a:rPr lang="en-US" dirty="0" err="1"/>
              <a:t>Eldoret</a:t>
            </a:r>
            <a:r>
              <a:rPr lang="en-US" dirty="0"/>
              <a:t> recording the highest average rating and </a:t>
            </a:r>
            <a:r>
              <a:rPr lang="en-US" dirty="0" err="1"/>
              <a:t>Nakuru</a:t>
            </a:r>
            <a:r>
              <a:rPr lang="en-US" dirty="0"/>
              <a:t> the lowest.</a:t>
            </a:r>
          </a:p>
        </p:txBody>
      </p:sp>
    </p:spTree>
    <p:extLst>
      <p:ext uri="{BB962C8B-B14F-4D97-AF65-F5344CB8AC3E}">
        <p14:creationId xmlns:p14="http://schemas.microsoft.com/office/powerpoint/2010/main" val="183872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728067" cy="75129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21: Determine the Impact of Promotional Campaigns on Sales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32257"/>
            <a:ext cx="5157787" cy="455981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2233"/>
            <a:ext cx="5736265" cy="3466214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65803" y="532257"/>
            <a:ext cx="3785007" cy="503828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81014" y="1100470"/>
            <a:ext cx="4610985" cy="50891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Sales with a promotion generated 61,202.40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without a promotion generated 44,099.97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is 17,102.43, meaning promoted sales were substantially higher in total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Promoted </a:t>
            </a:r>
            <a:r>
              <a:rPr lang="en-US" dirty="0"/>
              <a:t>transactions accounted for approximately 58.1% of the combined sales shown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output shows that sales were higher for transactions where a promotion was applied.</a:t>
            </a:r>
          </a:p>
        </p:txBody>
      </p:sp>
    </p:spTree>
    <p:extLst>
      <p:ext uri="{BB962C8B-B14F-4D97-AF65-F5344CB8AC3E}">
        <p14:creationId xmlns:p14="http://schemas.microsoft.com/office/powerpoint/2010/main" val="572927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22: Analyze the Relationship Between Discounts and Total Sales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54" y="2426684"/>
            <a:ext cx="5285194" cy="3264195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3103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10% discount generated the highest total sales at 25,909.26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0% discount generated the second-highest total sales at 25,410.82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20% discount generated 18,137.74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15% discount generated 17,271.27.The 5% discount generated the lowest total sales at 3,586.86</a:t>
            </a:r>
            <a:r>
              <a:rPr lang="en-US" dirty="0" smtClean="0"/>
              <a:t>.</a:t>
            </a:r>
          </a:p>
          <a:p>
            <a:r>
              <a:rPr lang="en-US" dirty="0" smtClean="0"/>
              <a:t>Overall</a:t>
            </a:r>
            <a:r>
              <a:rPr lang="en-US" dirty="0"/>
              <a:t>, the output shows that 10% and 0% discount levels generated the highest total sales, while 5% generated the lowest.</a:t>
            </a:r>
          </a:p>
        </p:txBody>
      </p:sp>
    </p:spTree>
    <p:extLst>
      <p:ext uri="{BB962C8B-B14F-4D97-AF65-F5344CB8AC3E}">
        <p14:creationId xmlns:p14="http://schemas.microsoft.com/office/powerpoint/2010/main" val="9579353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23: Analyze Return Patterns and Common Return Reasons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7" y="2892055"/>
            <a:ext cx="5678402" cy="2690037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23596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671 transactions were not returned, while 666 transactions were returned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number of returned and non-returned transactions is almost equal, showing a relatively balanced return pattern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Returned </a:t>
            </a:r>
            <a:r>
              <a:rPr lang="en-US" dirty="0"/>
              <a:t>transactions represent approximately 49.8% of all transactions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between returned and non-returned transactions is only 5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703705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23: Analyze Return Patterns and Common Return Reasons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28" y="2801679"/>
            <a:ext cx="5731247" cy="281231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Wrong Item is the most common reason for returns, with 188 returns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Damaged </a:t>
            </a:r>
            <a:r>
              <a:rPr lang="en-US" dirty="0"/>
              <a:t>products are the second most common reason, with 176 returns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Changed </a:t>
            </a:r>
            <a:r>
              <a:rPr lang="en-US" dirty="0"/>
              <a:t>Mind is the </a:t>
            </a:r>
            <a:r>
              <a:rPr lang="en-US" dirty="0" smtClean="0"/>
              <a:t>least common of the three, with 162 returns.</a:t>
            </a:r>
          </a:p>
          <a:p>
            <a:r>
              <a:rPr lang="en-US" dirty="0" smtClean="0"/>
              <a:t>Wrong Item </a:t>
            </a:r>
            <a:r>
              <a:rPr lang="en-US" dirty="0"/>
              <a:t>accounts for 26 more returns than Changed Mind, showing that incorrect items are a more frequent issue in the data.</a:t>
            </a:r>
          </a:p>
        </p:txBody>
      </p:sp>
    </p:spTree>
    <p:extLst>
      <p:ext uri="{BB962C8B-B14F-4D97-AF65-F5344CB8AC3E}">
        <p14:creationId xmlns:p14="http://schemas.microsoft.com/office/powerpoint/2010/main" val="3561359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24: Identify Branches with the Highest and Lowest Sales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65" y="2508374"/>
            <a:ext cx="4502408" cy="335548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430507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Eldoret</a:t>
            </a:r>
            <a:r>
              <a:rPr lang="en-US" dirty="0"/>
              <a:t> has the highest sales performance, with total sales of 44,258.69</a:t>
            </a:r>
            <a:r>
              <a:rPr lang="en-US" dirty="0" smtClean="0"/>
              <a:t>.</a:t>
            </a:r>
          </a:p>
          <a:p>
            <a:r>
              <a:rPr lang="en-US" dirty="0" smtClean="0"/>
              <a:t>Kisumu </a:t>
            </a:r>
            <a:r>
              <a:rPr lang="en-US" dirty="0"/>
              <a:t>has the lowest sales performance, with total sales of 22,674.85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between the highest and lowest branches is 21,583.84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</a:t>
            </a:r>
            <a:r>
              <a:rPr lang="en-US" dirty="0"/>
              <a:t>shows a substantial difference in sales performance between the two branches.</a:t>
            </a:r>
          </a:p>
        </p:txBody>
      </p:sp>
    </p:spTree>
    <p:extLst>
      <p:ext uri="{BB962C8B-B14F-4D97-AF65-F5344CB8AC3E}">
        <p14:creationId xmlns:p14="http://schemas.microsoft.com/office/powerpoint/2010/main" val="3868751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419723" cy="56522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Question 25: Determine the Top-Performing Salespersons Based on Total Sales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469052"/>
            <a:ext cx="5157787" cy="44003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9084"/>
            <a:ext cx="6757987" cy="104199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92926" y="442927"/>
            <a:ext cx="4162462" cy="440032"/>
          </a:xfrm>
        </p:spPr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92926" y="1034277"/>
            <a:ext cx="4999074" cy="55738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EMP9 is the top-performing salesperson, with total sales of 12,166.77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EMP7 </a:t>
            </a:r>
            <a:r>
              <a:rPr lang="en-US" dirty="0"/>
              <a:t>is second, with 11,783.97, followed by EMP15 with 11,660.49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top three salespersons generated totals above 11,000 each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Sales </a:t>
            </a:r>
            <a:r>
              <a:rPr lang="en-US" dirty="0"/>
              <a:t>performance varies considerably across the salespersons, with the lowest totals being much smaller than the highest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results show that EMP9 generated the highest overall sales among all the salespersons.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0" y="2068033"/>
            <a:ext cx="2849696" cy="47899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975" y="5818754"/>
            <a:ext cx="2629035" cy="96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0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4266</TotalTime>
  <Words>3616</Words>
  <Application>Microsoft Office PowerPoint</Application>
  <PresentationFormat>Widescreen</PresentationFormat>
  <Paragraphs>340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Agency FB</vt:lpstr>
      <vt:lpstr>Arial</vt:lpstr>
      <vt:lpstr>Calibri</vt:lpstr>
      <vt:lpstr>Calibri Light</vt:lpstr>
      <vt:lpstr>Office Theme</vt:lpstr>
      <vt:lpstr>RETAIL SALES AND CUSTOMER ANALYTICS  </vt:lpstr>
      <vt:lpstr>Project Description  </vt:lpstr>
      <vt:lpstr>Project Structure</vt:lpstr>
      <vt:lpstr>Section A: Data Import and Understanding</vt:lpstr>
      <vt:lpstr>QUESTION 1: Import the retail sales dataset into Python and verify that the dataset has been loaded successfully.</vt:lpstr>
      <vt:lpstr>QUESTION 2: Examine the structure, dimensions, variables, and data types of the retail sales dataset.</vt:lpstr>
      <vt:lpstr>QUESTION 2(continuation): Examine the structure, dimensions, variables, and data types of the retail sales dataset.</vt:lpstr>
      <vt:lpstr>QUESTION 2(continuation): Examine the structure, dimensions, variables, and data types of the retail sales dataset. </vt:lpstr>
      <vt:lpstr>QUESTION 3: Explore the dataset to identify the different categories of variables available for analysis.</vt:lpstr>
      <vt:lpstr>QUESTION 4: Produce descriptive summaries to gain an initial understanding of the dataset.</vt:lpstr>
      <vt:lpstr>Section B: Data Cleaning and Validation</vt:lpstr>
      <vt:lpstr>QUESTION 5: Clean and validate the retail sales dataset by identifying and correcting missing values using appropriate Python techniques.</vt:lpstr>
      <vt:lpstr>QUESTION 5(Continuation): Clean and validate the retail sales dataset by identifying and correcting missing values using appropriate Python techniques.</vt:lpstr>
      <vt:lpstr>QUESTION 6: Identify, validate, and remove duplicate transaction records while preserving valid sales information.</vt:lpstr>
      <vt:lpstr>QUESTION 7: Validate customer demographic information by identifying invalid ages and inconsistent customer categories.</vt:lpstr>
      <vt:lpstr>QUESTION 7(Continuation): Validate customer demographic information by identifying invalid ages and inconsistent customer categories.</vt:lpstr>
      <vt:lpstr>QUESTION 8: Standardize product categories, branch names, payment methods, and customer membership information.</vt:lpstr>
      <vt:lpstr>QUESTION 9: Detect and correct inconsistent text formatting including unnecessary spaces, mixed letter cases, and spelling inconsistencies.</vt:lpstr>
      <vt:lpstr>QUESTION 10: Convert variables into appropriate data types suitable for business analysis.</vt:lpstr>
      <vt:lpstr>QUESTION 11: Identify and validate unrealistic numerical values such as negative quantities, incorrect discounts, invalid unit prices, and unrealistic profits.</vt:lpstr>
      <vt:lpstr>QUESTION 11(Continuation): Identify and validate unrealistic numerical values such as negative quantities, incorrect discounts, invalid unit prices, and unrealistic profits.</vt:lpstr>
      <vt:lpstr>QUESTION 11(Continuation): Identify and validate unrealistic numerical values such as negative quantities, incorrect discounts, invalid unit prices, and unrealistic profits.</vt:lpstr>
      <vt:lpstr>QUESTION 11(Continuation): Identify and validate unrealistic numerical values such as negative quantities, incorrect discounts, invalid unit prices, and unrealistic profits.</vt:lpstr>
      <vt:lpstr>QUESTION 12: Detect and appropriately handle outliers in sales, profit, and quantity variables</vt:lpstr>
      <vt:lpstr>QUESTION 13: Produce a cleaned and validated retail sales dataset and export it as a new CSV file</vt:lpstr>
      <vt:lpstr>Section C: Business Data Analysis</vt:lpstr>
      <vt:lpstr>Question 14: Analyze sales performance across different branches.</vt:lpstr>
      <vt:lpstr>Question 14: Analyze sales performance across different branches.</vt:lpstr>
      <vt:lpstr>Question 14: Analyze sales performance across different branches.</vt:lpstr>
      <vt:lpstr>Question 15: Analyze monthly and quarterly sales trends.</vt:lpstr>
      <vt:lpstr>Question 15: Analyze monthly and quarterly sales trends.</vt:lpstr>
      <vt:lpstr>Question 16: Determine the best-selling products based on quantity sold.</vt:lpstr>
      <vt:lpstr>Question 17: Determine the Most Profitable Product Categories</vt:lpstr>
      <vt:lpstr>Question 18: Analyze Customer Purchasing Behavior Based on Age and Gender</vt:lpstr>
      <vt:lpstr>Question 19: Compare Sales Generated by Different Payment Methods</vt:lpstr>
      <vt:lpstr>Question 20: Analyze Customer Satisfaction Ratings Across Branches</vt:lpstr>
      <vt:lpstr>Question 21: Determine the Impact of Promotional Campaigns on Sales Performance</vt:lpstr>
      <vt:lpstr>Question 22: Analyze the Relationship Between Discounts and Total Sales</vt:lpstr>
      <vt:lpstr>Question 23: Analyze Return Patterns and Common Return Reasons</vt:lpstr>
      <vt:lpstr>Question 23: Analyze Return Patterns and Common Return Reasons</vt:lpstr>
      <vt:lpstr>Question 24: Identify Branches with the Highest and Lowest Sales Performance</vt:lpstr>
      <vt:lpstr>Question 25: Determine the Top-Performing Salespersons Based on Total Sales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AND CUSTOMER ANALYTICS</dc:title>
  <dc:creator>hp</dc:creator>
  <cp:lastModifiedBy>hp</cp:lastModifiedBy>
  <cp:revision>41</cp:revision>
  <dcterms:created xsi:type="dcterms:W3CDTF">2026-09-21T19:23:47Z</dcterms:created>
  <dcterms:modified xsi:type="dcterms:W3CDTF">2026-10-01T15:12:02Z</dcterms:modified>
</cp:coreProperties>
</file>